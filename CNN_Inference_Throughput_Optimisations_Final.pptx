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  <p:sldId id="267" r:id="rId18"/>
    <p:sldId id="268" r:id="rId19"/>
    <p:sldId id="269" r:id="rId20"/>
    <p:sldId id="270" r:id="rId2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" y="0"/>
            <a:ext cx="73152" cy="5143500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0"/>
            <a:ext cx="73152" cy="5143500"/>
          </a:xfrm>
          <a:prstGeom prst="rect">
            <a:avLst/>
          </a:prstGeom>
          <a:solidFill>
            <a:srgbClr val="FF6B35">
              <a:alpha val="40000"/>
            </a:srgbClr>
          </a:solidFill>
          <a:ln w="12700">
            <a:solidFill>
              <a:srgbClr val="FF6B35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371600"/>
            <a:ext cx="274320" cy="22860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457200"/>
            <a:ext cx="109728" cy="109728"/>
          </a:xfrm>
          <a:prstGeom prst="ellipse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457200"/>
            <a:ext cx="109728" cy="109728"/>
          </a:xfrm>
          <a:prstGeom prst="ellipse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457200"/>
            <a:ext cx="109728" cy="109728"/>
          </a:xfrm>
          <a:prstGeom prst="ellipse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914400"/>
            <a:ext cx="109728" cy="109728"/>
          </a:xfrm>
          <a:prstGeom prst="ellipse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914400"/>
            <a:ext cx="109728" cy="109728"/>
          </a:xfrm>
          <a:prstGeom prst="ellipse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914400"/>
            <a:ext cx="109728" cy="109728"/>
          </a:xfrm>
          <a:prstGeom prst="ellipse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097280"/>
            <a:ext cx="1463040" cy="292608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0789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IEEE TCAS-I 2024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1508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Optimisations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48640" y="21945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CNN Inference Engine SV Implementation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48640" y="2834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Memory-Sharing &amp; Data-Reusing Architecture — 864 PEs @ 3.85 GHz | 6.65 TOPs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1828800" cy="1280160"/>
          </a:xfrm>
          <a:prstGeom prst="rect">
            <a:avLst/>
          </a:prstGeom>
          <a:solidFill>
            <a:srgbClr val="1B2A3D"/>
          </a:solidFill>
          <a:ln w="12700">
            <a:solidFill>
              <a:srgbClr val="00D4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5204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6.65 TOPs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4069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Peak Throughput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0" y="3429000"/>
            <a:ext cx="1828800" cy="1280160"/>
          </a:xfrm>
          <a:prstGeom prst="rect">
            <a:avLst/>
          </a:prstGeom>
          <a:solidFill>
            <a:srgbClr val="1B2A3D"/>
          </a:solidFill>
          <a:ln w="12700">
            <a:solidFill>
              <a:srgbClr val="00D4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60320" y="35204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864 PEs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560320" y="4069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Array Size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3429000"/>
            <a:ext cx="1828800" cy="1280160"/>
          </a:xfrm>
          <a:prstGeom prst="rect">
            <a:avLst/>
          </a:prstGeom>
          <a:solidFill>
            <a:srgbClr val="1B2A3D"/>
          </a:solidFill>
          <a:ln w="12700">
            <a:solidFill>
              <a:srgbClr val="00D4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0" y="35204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3.85 GHz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572000" y="4069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ASIC Clock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83680" y="3429000"/>
            <a:ext cx="1828800" cy="1280160"/>
          </a:xfrm>
          <a:prstGeom prst="rect">
            <a:avLst/>
          </a:prstGeom>
          <a:solidFill>
            <a:srgbClr val="1B2A3D"/>
          </a:solidFill>
          <a:ln w="12700">
            <a:solidFill>
              <a:srgbClr val="00D4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0" y="35204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3.68×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583680" y="4069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vs State-of-Art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846320"/>
            <a:ext cx="8046720" cy="0"/>
          </a:xfrm>
          <a:prstGeom prst="line">
            <a:avLst/>
          </a:prstGeom>
          <a:noFill/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864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KPU · KPC · Line Memory · PE Core · IEC · CU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at a Glance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Where each throughput optimisation lives in the design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554480" cy="1188720"/>
          </a:xfrm>
          <a:prstGeom prst="rect">
            <a:avLst/>
          </a:prstGeom>
          <a:solidFill>
            <a:srgbClr val="1B2A3D"/>
          </a:solidFill>
          <a:ln w="254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55448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155448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IEC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(Controller)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1005840"/>
            <a:ext cx="1554480" cy="1188720"/>
          </a:xfrm>
          <a:prstGeom prst="rect">
            <a:avLst/>
          </a:prstGeom>
          <a:solidFill>
            <a:srgbClr val="1B2A3D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103120" y="1005840"/>
            <a:ext cx="155448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097280"/>
            <a:ext cx="155448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KPC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(Kernel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Controller)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31920" y="1005840"/>
            <a:ext cx="1554480" cy="1188720"/>
          </a:xfrm>
          <a:prstGeom prst="rect">
            <a:avLst/>
          </a:prstGeom>
          <a:solidFill>
            <a:srgbClr val="1B2A3D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31920" y="1005840"/>
            <a:ext cx="155448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1097280"/>
            <a:ext cx="155448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Memory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×32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1005840"/>
            <a:ext cx="1554480" cy="1188720"/>
          </a:xfrm>
          <a:prstGeom prst="rect">
            <a:avLst/>
          </a:prstGeom>
          <a:solidFill>
            <a:srgbClr val="1B2A3D"/>
          </a:solidFill>
          <a:ln w="25400">
            <a:solidFill>
              <a:srgbClr val="39C5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60720" y="1005840"/>
            <a:ext cx="1554480" cy="73152"/>
          </a:xfrm>
          <a:prstGeom prst="rect">
            <a:avLst/>
          </a:prstGeom>
          <a:solidFill>
            <a:srgbClr val="39C5A5"/>
          </a:solidFill>
          <a:ln w="12700">
            <a:solidFill>
              <a:srgbClr val="39C5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097280"/>
            <a:ext cx="155448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 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×864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(MAC+Pool)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589520" y="1005840"/>
            <a:ext cx="1371600" cy="1188720"/>
          </a:xfrm>
          <a:prstGeom prst="rect">
            <a:avLst/>
          </a:prstGeom>
          <a:solidFill>
            <a:srgbClr val="1B2A3D"/>
          </a:solidFill>
          <a:ln w="25400">
            <a:solidFill>
              <a:srgbClr val="39FF1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89520" y="1005840"/>
            <a:ext cx="1371600" cy="73152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1097280"/>
            <a:ext cx="137160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(Classify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Unit)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1600200"/>
            <a:ext cx="27432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0" y="1600200"/>
            <a:ext cx="27432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0" y="1600200"/>
            <a:ext cx="27432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0" y="1600200"/>
            <a:ext cx="27432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423160"/>
            <a:ext cx="1554480" cy="2423160"/>
          </a:xfrm>
          <a:prstGeom prst="rect">
            <a:avLst/>
          </a:prstGeom>
          <a:solidFill>
            <a:srgbClr val="0A1628"/>
          </a:solidFill>
          <a:ln w="12700">
            <a:solidFill>
              <a:srgbClr val="A855F7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496312"/>
            <a:ext cx="1463040" cy="228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One-cycle reset pulses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Combinational last-iter detection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done_interrupt vs polling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103120" y="2423160"/>
            <a:ext cx="1554480" cy="2423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48840" y="2496312"/>
            <a:ext cx="1463040" cy="228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Next_Stride gated in LOAD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Wr_Rr 2-bit packed bus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3-bit minimal load_cnt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931920" y="2423160"/>
            <a:ext cx="1554480" cy="2423160"/>
          </a:xfrm>
          <a:prstGeom prst="rect">
            <a:avLst/>
          </a:prstGeom>
          <a:solidFill>
            <a:srgbClr val="0A1628"/>
          </a:solidFill>
          <a:ln w="12700">
            <a:solidFill>
              <a:srgbClr val="FF6B35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77640" y="2496312"/>
            <a:ext cx="1463040" cy="228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WAG/RAG clock-gating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Output buffer collapsed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Circular WAG wrap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760720" y="2423160"/>
            <a:ext cx="1554480" cy="2423160"/>
          </a:xfrm>
          <a:prstGeom prst="rect">
            <a:avLst/>
          </a:prstGeom>
          <a:solidFill>
            <a:srgbClr val="0A1628"/>
          </a:solidFill>
          <a:ln w="12700">
            <a:solidFill>
              <a:srgbClr val="39C5A5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06440" y="2496312"/>
            <a:ext cx="1463040" cy="228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input_reg stride-gated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Weight Dout zeroed when idle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Psum column chaining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589520" y="2423160"/>
            <a:ext cx="1371600" cy="2423160"/>
          </a:xfrm>
          <a:prstGeom prst="rect">
            <a:avLst/>
          </a:prstGeom>
          <a:solidFill>
            <a:srgbClr val="0A1628"/>
          </a:solidFill>
          <a:ln w="12700">
            <a:solidFill>
              <a:srgbClr val="39FF14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35240" y="2496312"/>
            <a:ext cx="1280160" cy="228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Subtractor comparator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Bare up-counter CNG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Self-terminate after 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D4FF"/>
                </a:solidFill>
              </a:rPr>
              <a:t>Key insight: every optimisation either eliminates idle switching activity or removes pipeline stalls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KPC — Kernel Processing Controller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Throughput Optimisations in Control Signal Distribution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743200" cy="3913632"/>
          </a:xfrm>
          <a:prstGeom prst="rect">
            <a:avLst/>
          </a:prstGeom>
          <a:solidFill>
            <a:srgbClr val="162232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743200" cy="384048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05840"/>
            <a:ext cx="2651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Next_Stride Gating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260604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LOAD state, all 32 Next_Stride wires are forced to zero via generate block: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 Next_Stride[r] =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(state==COMPUTE) 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stride_req[r] : 1'b0;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Prevents stray pulses from triggering 32 line-memory RAGs simultaneously during weight loading — stops spurious read-pointer corruption and eliminates 32 toggling outputs.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365760" y="4206240"/>
            <a:ext cx="2743200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224528"/>
            <a:ext cx="2606040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00D4FF"/>
                </a:solidFill>
              </a:rPr>
              <a:t>⚡ 32 simultaneous spurious RAG triggers eliminated per stray pulse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3246120" y="1005840"/>
            <a:ext cx="2743200" cy="3913632"/>
          </a:xfrm>
          <a:prstGeom prst="rect">
            <a:avLst/>
          </a:prstGeom>
          <a:solidFill>
            <a:srgbClr val="162232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005840"/>
            <a:ext cx="2743200" cy="384048"/>
          </a:xfrm>
          <a:prstGeom prst="rect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1005840"/>
            <a:ext cx="2651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Wr_Rr 2-bit Packed Bus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1417320"/>
            <a:ext cx="260604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Write_Selector and Read_Selector are packed into a single 2-bit bus: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Wr_Rr = 2'b10  →  Write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Wr_Rr = 2'b01  →  Read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 decodes with free bit-selects: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WE = Wr_Rr[1]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RE = Wr_Rr[0]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Halves control-signal fanout into all 864 PEs. Decode is a single bit-select — zero logic gates.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246120" y="4206240"/>
            <a:ext cx="2743200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FF6B35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4224528"/>
            <a:ext cx="2606040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FF6B35"/>
                </a:solidFill>
              </a:rPr>
              <a:t>⚡ 1 728 fewer routed wires into PE array (864 PEs × 2 signals saved)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126480" y="1005840"/>
            <a:ext cx="2743200" cy="3913632"/>
          </a:xfrm>
          <a:prstGeom prst="rect">
            <a:avLst/>
          </a:prstGeom>
          <a:solidFill>
            <a:srgbClr val="162232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005840"/>
            <a:ext cx="2743200" cy="384048"/>
          </a:xfrm>
          <a:prstGeom prst="rect">
            <a:avLst/>
          </a:prstGeom>
          <a:solidFill>
            <a:srgbClr val="A855F7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9632" y="1005840"/>
            <a:ext cx="2651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Minimal load_cnt Width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1417320"/>
            <a:ext cx="260604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Weight-loading counter declared at minimum bit-width: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 [Z_Bit_Width-1:0]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load_cnt; // 3 bits for Z=8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load_done registered in always_ff, not combinational (load_cnt==Z-1), to eliminate glitch at wrap boundary that would falsely trigger all downstream logic.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6126480" y="4206240"/>
            <a:ext cx="2743200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4224528"/>
            <a:ext cx="2606040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A855F7"/>
                </a:solidFill>
              </a:rPr>
              <a:t>⚡ 3-bit counter inferred vs over-provisioned wide counter. Zero glitch on done.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Memory — 32 Instances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Clock-gating and output-buffer elimination for maximum energy-throughput efficiency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4023360" cy="1920240"/>
          </a:xfrm>
          <a:prstGeom prst="rect">
            <a:avLst/>
          </a:prstGeom>
          <a:solidFill>
            <a:srgbClr val="162232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87552"/>
            <a:ext cx="4023360" cy="329184"/>
          </a:xfrm>
          <a:prstGeom prst="rect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87552"/>
            <a:ext cx="39319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WAG / RAG Independent Clock-Gating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35024"/>
            <a:ext cx="3931920" cy="1536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WAG advances only when Write_Selector is asserted.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 base update only when Read_Selector &amp;&amp; Next_Stride.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During computation:   WAG FFs frozen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During loading:       RAG FFs frozen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Both idle simultaneously is the common case — majority of clock cycles, both address registers draw zero dynamic power.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3044952"/>
            <a:ext cx="4023360" cy="1828800"/>
          </a:xfrm>
          <a:prstGeom prst="rect">
            <a:avLst/>
          </a:prstGeom>
          <a:solidFill>
            <a:srgbClr val="162232"/>
          </a:solidFill>
          <a:ln w="19050">
            <a:solidFill>
              <a:srgbClr val="39C5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3044952"/>
            <a:ext cx="4023360" cy="329184"/>
          </a:xfrm>
          <a:prstGeom prst="rect">
            <a:avLst/>
          </a:prstGeom>
          <a:solidFill>
            <a:srgbClr val="39C5A5">
              <a:alpha val="80000"/>
            </a:srgbClr>
          </a:solidFill>
          <a:ln w="12700">
            <a:solidFill>
              <a:srgbClr val="39C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44952"/>
            <a:ext cx="39319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Circular WAG Wrap — No Subtractor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392424"/>
            <a:ext cx="3931920" cy="1444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 expressed as ternary, not comparator: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(wag_addr == A_Bit_Width'(A-1))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? '0 : wag_addr + 1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Synthesiser maps to single carry-chain equality check. A general subtractor-based comparator (wag_addr &gt;= A-1) would require full adder logic.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987552"/>
            <a:ext cx="4206240" cy="3657600"/>
          </a:xfrm>
          <a:prstGeom prst="rect">
            <a:avLst/>
          </a:prstGeom>
          <a:solidFill>
            <a:srgbClr val="162232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987552"/>
            <a:ext cx="4206240" cy="384048"/>
          </a:xfrm>
          <a:prstGeom prst="rect">
            <a:avLst/>
          </a:prstGeom>
          <a:solidFill>
            <a:srgbClr val="00D4FF">
              <a:alpha val="8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987552"/>
            <a:ext cx="41148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Output Buffer Collapse — 864 Registers Saved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54880" y="1417320"/>
            <a:ext cx="4023360" cy="3154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 spec: n k-bit output registers + n:1 mux per line memory.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 implementation collapses to single assign: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 O_packed[p*K +: K]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Read_Selector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? mem[(read_base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A_Bit_Width'(p)) % A]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: '0;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Saving per line memory: 27 registers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saving: 27 × 32 = 864 registers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Trade-off: slightly wider address arithmetic path — justified because register-array area &gt;&gt; adder area at 16-bit data width.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4663440"/>
            <a:ext cx="2011680" cy="347472"/>
          </a:xfrm>
          <a:prstGeom prst="rect">
            <a:avLst/>
          </a:prstGeom>
          <a:solidFill>
            <a:srgbClr val="1A2E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4663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FF14"/>
                </a:solidFill>
              </a:rPr>
              <a:t>⚡ 864 registers eliminated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0" y="4663440"/>
            <a:ext cx="201168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4663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⚡ 1 carry-chain vs subtractor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9C5A5"/>
          </a:solidFill>
          <a:ln w="12700">
            <a:solidFill>
              <a:srgbClr val="39C5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9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Core — 864 Instances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Switching-activity reduction, port minimisation, and MAC idle-gating across 864 PEs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60520" cy="1965960"/>
          </a:xfrm>
          <a:prstGeom prst="rect">
            <a:avLst/>
          </a:prstGeom>
          <a:solidFill>
            <a:srgbClr val="162232"/>
          </a:solidFill>
          <a:ln w="19050">
            <a:solidFill>
              <a:srgbClr val="39C5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4160520" cy="329184"/>
          </a:xfrm>
          <a:prstGeom prst="rect">
            <a:avLst/>
          </a:prstGeom>
          <a:solidFill>
            <a:srgbClr val="39C5A5">
              <a:alpha val="80000"/>
            </a:srgbClr>
          </a:solidFill>
          <a:ln w="12700">
            <a:solidFill>
              <a:srgbClr val="39C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960120"/>
            <a:ext cx="40690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input_reg Stride-Gated (~87% toggle reduction)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07592"/>
            <a:ext cx="4023360" cy="1563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feature register only clocks on Stride_Request: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else if (Stride_Request)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input_reg &lt;= I_sel;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z=8 filter depth, register clocks 1-in-8 cycles. Vs. clocking every cycle → ~87.5% switching reduction across all 864 PE input registers.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60520" cy="1965960"/>
          </a:xfrm>
          <a:prstGeom prst="rect">
            <a:avLst/>
          </a:prstGeom>
          <a:solidFill>
            <a:srgbClr val="162232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60120"/>
            <a:ext cx="4160520" cy="329184"/>
          </a:xfrm>
          <a:prstGeom prst="rect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82312" y="960120"/>
            <a:ext cx="40690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Weight Dout Zeroed When RE=0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00600" y="1307592"/>
            <a:ext cx="4023360" cy="1563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Async-read weight memory output explicitly zeroed: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wire signed [K-1:0] Dout =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RE ? wmem[RA] : '0;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Without this, stale weight data continuously drives the multiplier operand. With it, the multiplier input is constant-zero when idle — eliminating majority of its internal switching.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65760" y="3035808"/>
            <a:ext cx="2606040" cy="1920240"/>
          </a:xfrm>
          <a:prstGeom prst="rect">
            <a:avLst/>
          </a:prstGeom>
          <a:solidFill>
            <a:srgbClr val="162232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035808"/>
            <a:ext cx="2606040" cy="329184"/>
          </a:xfrm>
          <a:prstGeom prst="rect">
            <a:avLst/>
          </a:prstGeom>
          <a:solidFill>
            <a:srgbClr val="A855F7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035808"/>
            <a:ext cx="25146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R6_r_Delta 7-bit Packed Port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2468880" cy="1517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control params packed into 1 port: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wire R6    = R6_r_Delta[6];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wire r_val = R6_r_Delta[5:3];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wire Delta = R6_r_Delta[2:0];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Saves 2 signals × 864 PEs = 1 728 fewer routed wires.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3127248" y="3035808"/>
            <a:ext cx="2743200" cy="1920240"/>
          </a:xfrm>
          <a:prstGeom prst="rect">
            <a:avLst/>
          </a:prstGeom>
          <a:solidFill>
            <a:srgbClr val="162232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27248" y="3035808"/>
            <a:ext cx="2743200" cy="329184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3035808"/>
            <a:ext cx="2651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 Resets on Stride_Request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18688" y="3383280"/>
            <a:ext cx="2606040" cy="1517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address reuses existing signal: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if (rst || Stride_Request)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RA &lt;= '0;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separate reset pulse needed. Signal reuse = fewer distinct control lines for timing closure.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016752" y="3035808"/>
            <a:ext cx="2852928" cy="1920240"/>
          </a:xfrm>
          <a:prstGeom prst="rect">
            <a:avLst/>
          </a:prstGeom>
          <a:solidFill>
            <a:srgbClr val="162232"/>
          </a:solidFill>
          <a:ln w="19050">
            <a:solidFill>
              <a:srgbClr val="39FF1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16752" y="3035808"/>
            <a:ext cx="2852928" cy="329184"/>
          </a:xfrm>
          <a:prstGeom prst="rect">
            <a:avLst/>
          </a:prstGeom>
          <a:solidFill>
            <a:srgbClr val="39FF14">
              <a:alpha val="80000"/>
            </a:srgbClr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9904" y="3035808"/>
            <a:ext cx="2761488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Psum Column Chaining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08192" y="3383280"/>
            <a:ext cx="2715768" cy="1517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Bias enters only column j=0; all other columns chain previous Psum: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assign b_w = (j==0)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? BIAS_Bus_packed[...]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: psum_packed[prev_col];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27-stage accumulator with zero extra adder hardware.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— Inference Engine Controller FSM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Zero-cycle wasted transitions, interrupt-driven handshake, combinational boundary detection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097280" cy="438912"/>
          </a:xfrm>
          <a:prstGeom prst="roundRect">
            <a:avLst>
              <a:gd name="adj" fmla="val 16667"/>
            </a:avLst>
          </a:prstGeom>
          <a:solidFill>
            <a:srgbClr val="1B2A3D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</a:rPr>
              <a:t>S_IDLE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371600" y="1179576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36192" y="960120"/>
            <a:ext cx="1097280" cy="438912"/>
          </a:xfrm>
          <a:prstGeom prst="roundRect">
            <a:avLst>
              <a:gd name="adj" fmla="val 16667"/>
            </a:avLst>
          </a:prstGeom>
          <a:solidFill>
            <a:srgbClr val="1B2A3D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9601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S_CONFIG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33472" y="1179576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98064" y="960120"/>
            <a:ext cx="1097280" cy="438912"/>
          </a:xfrm>
          <a:prstGeom prst="roundRect">
            <a:avLst>
              <a:gd name="adj" fmla="val 16667"/>
            </a:avLst>
          </a:prstGeom>
          <a:solidFill>
            <a:srgbClr val="1B2A3D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98064" y="9601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35"/>
                </a:solidFill>
              </a:rPr>
              <a:t>S_LOAD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895344" y="1179576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59936" y="960120"/>
            <a:ext cx="1097280" cy="438912"/>
          </a:xfrm>
          <a:prstGeom prst="roundRect">
            <a:avLst>
              <a:gd name="adj" fmla="val 16667"/>
            </a:avLst>
          </a:prstGeom>
          <a:solidFill>
            <a:srgbClr val="1B2A3D"/>
          </a:solidFill>
          <a:ln w="19050">
            <a:solidFill>
              <a:srgbClr val="39C5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59936" y="9601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C5A5"/>
                </a:solidFill>
              </a:rPr>
              <a:t>S_COMPUTE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157216" y="1179576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21808" y="960120"/>
            <a:ext cx="1097280" cy="438912"/>
          </a:xfrm>
          <a:prstGeom prst="roundRect">
            <a:avLst>
              <a:gd name="adj" fmla="val 16667"/>
            </a:avLst>
          </a:prstGeom>
          <a:solidFill>
            <a:srgbClr val="1B2A3D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21808" y="9601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55F7"/>
                </a:solidFill>
              </a:rPr>
              <a:t>S_LAYER_SWITCH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419088" y="1179576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960120"/>
            <a:ext cx="1097280" cy="438912"/>
          </a:xfrm>
          <a:prstGeom prst="roundRect">
            <a:avLst>
              <a:gd name="adj" fmla="val 16667"/>
            </a:avLst>
          </a:prstGeom>
          <a:solidFill>
            <a:srgbClr val="1B2A3D"/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9601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S_CLASSIFY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680960" y="1179576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45552" y="960120"/>
            <a:ext cx="1097280" cy="438912"/>
          </a:xfrm>
          <a:prstGeom prst="roundRect">
            <a:avLst>
              <a:gd name="adj" fmla="val 16667"/>
            </a:avLst>
          </a:prstGeom>
          <a:solidFill>
            <a:srgbClr val="1B2A3D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45552" y="9601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35"/>
                </a:solidFill>
              </a:rPr>
              <a:t>S_DONE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1572768"/>
            <a:ext cx="4114800" cy="1920240"/>
          </a:xfrm>
          <a:prstGeom prst="rect">
            <a:avLst/>
          </a:prstGeom>
          <a:solidFill>
            <a:srgbClr val="162232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1572768"/>
            <a:ext cx="4114800" cy="320040"/>
          </a:xfrm>
          <a:prstGeom prst="rect">
            <a:avLst/>
          </a:prstGeom>
          <a:solidFill>
            <a:srgbClr val="A855F7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1572768"/>
            <a:ext cx="402336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One-Cycle Reset Pulses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1911096"/>
            <a:ext cx="3977640" cy="1517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kpu_rst and cu_rst deasserted at top of every always_ff: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kpu_rst &lt;= 1'b0;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cu_rst  &lt;= 1'b0;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 specific states reassert them. A held reset keeps all 864 PE registers + CU registers clamped to zero — constant-zero drive wastes energy every cycle it is held.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4663440" y="1572768"/>
            <a:ext cx="4206240" cy="1920240"/>
          </a:xfrm>
          <a:prstGeom prst="rect">
            <a:avLst/>
          </a:prstGeom>
          <a:solidFill>
            <a:srgbClr val="162232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1572768"/>
            <a:ext cx="4206240" cy="320040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1572768"/>
            <a:ext cx="4114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done_interrupt vs Status Polling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1911096"/>
            <a:ext cx="4069080" cy="1517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Registered interrupt output instead of polling a status register: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→ ARM processor sleeps during inference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→ Wakes only on interrupt assertion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Paper's real-world test explicitly wires interrupt between processing system and inference engine (AXI-lite registers not polled).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365760" y="3584448"/>
            <a:ext cx="2651760" cy="1417320"/>
          </a:xfrm>
          <a:prstGeom prst="rect">
            <a:avLst/>
          </a:prstGeom>
          <a:solidFill>
            <a:srgbClr val="162232"/>
          </a:solidFill>
          <a:ln w="19050">
            <a:solidFill>
              <a:srgbClr val="39FF1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3584448"/>
            <a:ext cx="2651760" cy="320040"/>
          </a:xfrm>
          <a:prstGeom prst="rect">
            <a:avLst/>
          </a:prstGeom>
          <a:solidFill>
            <a:srgbClr val="39FF14">
              <a:alpha val="80000"/>
            </a:srgbClr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" y="3584448"/>
            <a:ext cx="25603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layer_config_ack — Single-Cycle Handshake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3922776"/>
            <a:ext cx="2514600" cy="1014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IEC asserts ack for exactly one cycle on valid config capture.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Processor watches for pulse — no busy flag polling loop.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Reduces cycles wasted in config handshake to the absolute minimum (1 cycle).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3163824" y="3584448"/>
            <a:ext cx="2743200" cy="1417320"/>
          </a:xfrm>
          <a:prstGeom prst="rect">
            <a:avLst/>
          </a:prstGeom>
          <a:solidFill>
            <a:srgbClr val="162232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63824" y="3584448"/>
            <a:ext cx="2743200" cy="320040"/>
          </a:xfrm>
          <a:prstGeom prst="rect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36976" y="3584448"/>
            <a:ext cx="265176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l_is_FClast &amp; last_iter — Combinational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255264" y="3922776"/>
            <a:ext cx="2606040" cy="1014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 l_is_FClast =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(r_layer == r_FClast);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 last_iter =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(iter_cnt == r_nl - 1'b1);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Evaluated from already-registered values — FSM branches in same cycle last iteration completes. Zero wasted cycles at layer boundaries.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6053328" y="3584448"/>
            <a:ext cx="2816352" cy="1417320"/>
          </a:xfrm>
          <a:prstGeom prst="rect">
            <a:avLst/>
          </a:prstGeom>
          <a:solidFill>
            <a:srgbClr val="162232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53328" y="3584448"/>
            <a:ext cx="2816352" cy="320040"/>
          </a:xfrm>
          <a:prstGeom prst="rect">
            <a:avLst/>
          </a:prstGeom>
          <a:solidFill>
            <a:srgbClr val="A855F7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3584448"/>
            <a:ext cx="272491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kpu_valid Direct Tap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44768" y="3922776"/>
            <a:ext cx="2679192" cy="1014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 kpu_valid =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kpu_inst.load_done;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Directly reads internal KPU signal. Saves one FF and eliminates one pipeline cycle lag between KPU signalling ready and IEC acting on it.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 — Classify Unit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Hardware-efficient argmax: subtractor comparator, bare counter, dual-path zeroing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2011680"/>
          </a:xfrm>
          <a:prstGeom prst="rect">
            <a:avLst/>
          </a:prstGeom>
          <a:solidFill>
            <a:srgbClr val="162232"/>
          </a:solidFill>
          <a:ln w="19050">
            <a:solidFill>
              <a:srgbClr val="39FF1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4114800" cy="329184"/>
          </a:xfrm>
          <a:prstGeom prst="rect">
            <a:avLst/>
          </a:prstGeom>
          <a:solidFill>
            <a:srgbClr val="39FF14">
              <a:alpha val="80000"/>
            </a:srgbClr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960120"/>
            <a:ext cx="4023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DSR Zero-Forces Both Output Paths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07592"/>
            <a:ext cx="3977640" cy="1609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Both output paths always driven to defined value: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l == FClast  →  AC_to_ACSU=0,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    valid_to_CUC=0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l != FClast  →  AC_out=0,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    valid_out=0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Neither ACSU nor IEC ever sees floating or stale bus — no undefined switching.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206240" cy="2011680"/>
          </a:xfrm>
          <a:prstGeom prst="rect">
            <a:avLst/>
          </a:prstGeom>
          <a:solidFill>
            <a:srgbClr val="162232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60120"/>
            <a:ext cx="4206240" cy="329184"/>
          </a:xfrm>
          <a:prstGeom prst="rect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960120"/>
            <a:ext cx="41148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ACSU: Subtractor Sign-Bit Comparator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307592"/>
            <a:ext cx="4069080" cy="1609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 dedicated comparator with: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wire signed [K-1:0] cmp =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ACi - ACMax;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wire update =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en &amp;&amp; AC_valid &amp;&amp; !cmp[K-1];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 bit of subtraction = ACi &gt; ACMax.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Synthesis: single 16-bit subtractor, MSB tapped. Zero extra comparator gates.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65760" y="3090672"/>
            <a:ext cx="2651760" cy="1920240"/>
          </a:xfrm>
          <a:prstGeom prst="rect">
            <a:avLst/>
          </a:prstGeom>
          <a:solidFill>
            <a:srgbClr val="162232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090672"/>
            <a:ext cx="2651760" cy="329184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090672"/>
            <a:ext cx="25603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class_done Registered (Anti-Glitch)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438144"/>
            <a:ext cx="2514600" cy="1517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cn_reached fires combinationally when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CN_count == N, but class_done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committed to FF on next clock edge.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Prevents glitch on result_valid in DSR from propagating to IEC's S_CLASSIFY → S_DONE mid-cycle.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3163824" y="3090672"/>
            <a:ext cx="2743200" cy="1920240"/>
          </a:xfrm>
          <a:prstGeom prst="rect">
            <a:avLst/>
          </a:prstGeom>
          <a:solidFill>
            <a:srgbClr val="162232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63824" y="3090672"/>
            <a:ext cx="2743200" cy="329184"/>
          </a:xfrm>
          <a:prstGeom prst="rect">
            <a:avLst/>
          </a:prstGeom>
          <a:solidFill>
            <a:srgbClr val="A855F7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36976" y="3090672"/>
            <a:ext cx="2651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Bare Up-Counter CNG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55264" y="3438144"/>
            <a:ext cx="2606040" cy="1517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numbers 0…N-1 are simply the counter value.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one-hot, no priority encoder, no LUT.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N=1000: conventional design needs 1 000 decode gates; here, just a 10-bit counter — 2 orders of magnitude fewer gates.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053328" y="3090672"/>
            <a:ext cx="2816352" cy="1920240"/>
          </a:xfrm>
          <a:prstGeom prst="rect">
            <a:avLst/>
          </a:prstGeom>
          <a:solidFill>
            <a:srgbClr val="162232"/>
          </a:solidFill>
          <a:ln w="19050">
            <a:solidFill>
              <a:srgbClr val="39FF1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53328" y="3090672"/>
            <a:ext cx="2816352" cy="329184"/>
          </a:xfrm>
          <a:prstGeom prst="rect">
            <a:avLst/>
          </a:prstGeom>
          <a:solidFill>
            <a:srgbClr val="39FF14">
              <a:alpha val="80000"/>
            </a:srgbClr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3090672"/>
            <a:ext cx="272491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acsu_cng_en — 4-Condition Guard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44768" y="3438144"/>
            <a:ext cx="2679192" cy="1517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 acsu_cng_en =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l_is_FClast &amp;&amp; AC_valid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&amp;&amp; (CN_count &lt; N)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&amp;&amp; (N != '0);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!= '0 prevents zero-width counter ambiguity.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CN_count &lt; N self-terminates after N classes — no extra controller intervention.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Uninterrupted Computation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σ = 1.0 time-efficiency: PEs are never idle during inference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463040" cy="685800"/>
          </a:xfrm>
          <a:prstGeom prst="rect">
            <a:avLst/>
          </a:prstGeom>
          <a:solidFill>
            <a:srgbClr val="00D4FF">
              <a:alpha val="7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Pre-fetch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 data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20240" y="1097280"/>
            <a:ext cx="2194560" cy="685800"/>
          </a:xfrm>
          <a:prstGeom prst="rect">
            <a:avLst/>
          </a:prstGeom>
          <a:solidFill>
            <a:srgbClr val="39C5A5">
              <a:alpha val="75000"/>
            </a:srgbClr>
          </a:solidFill>
          <a:ln w="12700">
            <a:solidFill>
              <a:srgbClr val="39C5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10972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Compute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+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Fetch rest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06240" y="1097280"/>
            <a:ext cx="1645920" cy="685800"/>
          </a:xfrm>
          <a:prstGeom prst="rect">
            <a:avLst/>
          </a:prstGeom>
          <a:solidFill>
            <a:srgbClr val="A855F7">
              <a:alpha val="7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0972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Pre-fetch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next stride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0" y="1097280"/>
            <a:ext cx="1828800" cy="685800"/>
          </a:xfrm>
          <a:prstGeom prst="rect">
            <a:avLst/>
          </a:prstGeom>
          <a:solidFill>
            <a:srgbClr val="39FF14">
              <a:alpha val="75000"/>
            </a:srgbClr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10972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Compute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next stride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863840" y="12801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 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18470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TIME →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8046720" cy="0"/>
          </a:xfrm>
          <a:prstGeom prst="line">
            <a:avLst/>
          </a:prstGeom>
          <a:noFill/>
          <a:ln w="1270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103120"/>
            <a:ext cx="2743200" cy="2743200"/>
          </a:xfrm>
          <a:prstGeom prst="rect">
            <a:avLst/>
          </a:prstGeom>
          <a:solidFill>
            <a:srgbClr val="162232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103120"/>
            <a:ext cx="2743200" cy="347472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103120"/>
            <a:ext cx="26517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r-data Partial Prefetch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2468880"/>
            <a:ext cx="2606040" cy="23317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</a:rPr>
              <a:t>Computation starts after only r data items loaded.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</a:rPr>
              <a:t>Remaining data fetches happen during compute run.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</a:rPr>
              <a:t>PE needs new data only once per δ cycles;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</a:rPr>
              <a:t>line memory needs s cycles to generate new data.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</a:rPr>
              <a:t>δ - s cycles available for background DRAM fetch.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246120" y="2103120"/>
            <a:ext cx="2788920" cy="2743200"/>
          </a:xfrm>
          <a:prstGeom prst="rect">
            <a:avLst/>
          </a:prstGeom>
          <a:solidFill>
            <a:srgbClr val="162232"/>
          </a:solidFill>
          <a:ln w="19050">
            <a:solidFill>
              <a:srgbClr val="39C5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103120"/>
            <a:ext cx="2788920" cy="347472"/>
          </a:xfrm>
          <a:prstGeom prst="rect">
            <a:avLst/>
          </a:prstGeom>
          <a:solidFill>
            <a:srgbClr val="39C5A5">
              <a:alpha val="80000"/>
            </a:srgbClr>
          </a:solidFill>
          <a:ln w="12700">
            <a:solidFill>
              <a:srgbClr val="39C5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9272" y="2103120"/>
            <a:ext cx="26974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Vertical Stride Data Reuse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37560" y="2468880"/>
            <a:ext cx="2651760" cy="23317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</a:rPr>
              <a:t>Top α-s rows of PEs re-routed to line memories that held their subsequent PE rows in previous stride.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</a:rPr>
              <a:t>Only s new line-memory rows fetched per stride.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</a:rPr>
              <a:t>Each input item reused up to z(α-s)² MAC ops.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</a:rPr>
              <a:t>Each filter weight reused (A-s)² MAC ops.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6172200" y="2103120"/>
            <a:ext cx="2697480" cy="2743200"/>
          </a:xfrm>
          <a:prstGeom prst="rect">
            <a:avLst/>
          </a:prstGeom>
          <a:solidFill>
            <a:srgbClr val="162232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2103120"/>
            <a:ext cx="2697480" cy="347472"/>
          </a:xfrm>
          <a:prstGeom prst="rect">
            <a:avLst/>
          </a:prstGeom>
          <a:solidFill>
            <a:srgbClr val="A855F7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45352" y="2103120"/>
            <a:ext cx="2606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Warmup Formula: Z + N_PE + 4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63640" y="2468880"/>
            <a:ext cx="2560320" cy="23317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</a:rPr>
              <a:t>The combinational adder tree (no pipeline register) keeps the warmup formula clean: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</a:rPr>
              <a:t xml:space="preserve">  warmup = Z + N_PE + 4 cycles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</a:rPr>
              <a:t>Adding a pipeline register would add a cycle to this formula and would require 21 extra FFs for the 16-bit×(K+5)-wide accumulation bus.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All Throughput Optimisations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82880" y="685800"/>
            <a:ext cx="777240" cy="205740"/>
          </a:xfrm>
          <a:prstGeom prst="rect">
            <a:avLst/>
          </a:prstGeom>
          <a:solidFill>
            <a:srgbClr val="1B3050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0312" y="685800"/>
            <a:ext cx="731520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Module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987552" y="685800"/>
            <a:ext cx="2194560" cy="205740"/>
          </a:xfrm>
          <a:prstGeom prst="rect">
            <a:avLst/>
          </a:prstGeom>
          <a:solidFill>
            <a:srgbClr val="1B3050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" y="685800"/>
            <a:ext cx="2148840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Optimisation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18688" y="685800"/>
            <a:ext cx="2377440" cy="205740"/>
          </a:xfrm>
          <a:prstGeom prst="rect">
            <a:avLst/>
          </a:prstGeom>
          <a:solidFill>
            <a:srgbClr val="1B3050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685800"/>
            <a:ext cx="2331720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Mechanism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632704" y="685800"/>
            <a:ext cx="2926080" cy="205740"/>
          </a:xfrm>
          <a:prstGeom prst="rect">
            <a:avLst/>
          </a:prstGeom>
          <a:solidFill>
            <a:srgbClr val="1B3050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0136" y="685800"/>
            <a:ext cx="2880360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Primary Benefit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2880" y="891540"/>
            <a:ext cx="77724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" y="891540"/>
            <a:ext cx="7223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D4FF"/>
                </a:solidFill>
              </a:rPr>
              <a:t>KPC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987552" y="891540"/>
            <a:ext cx="219456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891540"/>
            <a:ext cx="213969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Next_Stride gated in LOAD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3218688" y="891540"/>
            <a:ext cx="237744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55264" y="891540"/>
            <a:ext cx="23225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generate assign with state guard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5632704" y="891540"/>
            <a:ext cx="292608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891540"/>
            <a:ext cx="287121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BD5E1"/>
                </a:solidFill>
              </a:rPr>
              <a:t>Prevents 32 simultaneous spurious RAG triggers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182880" y="1097280"/>
            <a:ext cx="77724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9456" y="1097280"/>
            <a:ext cx="7223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D4FF"/>
                </a:solidFill>
              </a:rPr>
              <a:t>KPC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987552" y="1097280"/>
            <a:ext cx="219456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1097280"/>
            <a:ext cx="213969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Wr_Rr 2-bit packed control bus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3218688" y="1097280"/>
            <a:ext cx="237744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55264" y="1097280"/>
            <a:ext cx="23225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Bit-select decode in each PE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5632704" y="1097280"/>
            <a:ext cx="292608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1097280"/>
            <a:ext cx="287121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BD5E1"/>
                </a:solidFill>
              </a:rPr>
              <a:t>1 728 fewer routed wires across PE array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182880" y="1303020"/>
            <a:ext cx="77724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9456" y="1303020"/>
            <a:ext cx="7223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D4FF"/>
                </a:solidFill>
              </a:rPr>
              <a:t>KPC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987552" y="1303020"/>
            <a:ext cx="219456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4128" y="1303020"/>
            <a:ext cx="213969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Minimal load_cnt width + FF done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3218688" y="1303020"/>
            <a:ext cx="237744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55264" y="1303020"/>
            <a:ext cx="23225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Z_Bit_Width-bit counter; registered done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5632704" y="1303020"/>
            <a:ext cx="292608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0" y="1303020"/>
            <a:ext cx="287121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BD5E1"/>
                </a:solidFill>
              </a:rPr>
              <a:t>Minimal counter + zero glitch on wrap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182880" y="1508760"/>
            <a:ext cx="77724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9456" y="1508760"/>
            <a:ext cx="7223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6B35"/>
                </a:solidFill>
              </a:rPr>
              <a:t>Line Mem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987552" y="1508760"/>
            <a:ext cx="219456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4128" y="1508760"/>
            <a:ext cx="213969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WAG/RAG independent clock-gating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3218688" y="1508760"/>
            <a:ext cx="237744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55264" y="1508760"/>
            <a:ext cx="23225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if(selector) guard on address FFs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5632704" y="1508760"/>
            <a:ext cx="292608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0" y="1508760"/>
            <a:ext cx="287121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BD5E1"/>
                </a:solidFill>
              </a:rPr>
              <a:t>Both address registers frozen when unused</a:t>
            </a:r>
            <a:endParaRPr lang="en-US" sz="720" dirty="0"/>
          </a:p>
        </p:txBody>
      </p:sp>
      <p:sp>
        <p:nvSpPr>
          <p:cNvPr id="43" name="Shape 41"/>
          <p:cNvSpPr/>
          <p:nvPr/>
        </p:nvSpPr>
        <p:spPr>
          <a:xfrm>
            <a:off x="182880" y="1714500"/>
            <a:ext cx="77724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9456" y="1714500"/>
            <a:ext cx="7223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6B35"/>
                </a:solidFill>
              </a:rPr>
              <a:t>Line Mem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987552" y="1714500"/>
            <a:ext cx="219456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4128" y="1714500"/>
            <a:ext cx="213969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Output buffer collapse (−864 regs)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3218688" y="1714500"/>
            <a:ext cx="237744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55264" y="1714500"/>
            <a:ext cx="23225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Single assign with modulo addressing</a:t>
            </a:r>
            <a:endParaRPr lang="en-US" sz="720" dirty="0"/>
          </a:p>
        </p:txBody>
      </p:sp>
      <p:sp>
        <p:nvSpPr>
          <p:cNvPr id="49" name="Shape 47"/>
          <p:cNvSpPr/>
          <p:nvPr/>
        </p:nvSpPr>
        <p:spPr>
          <a:xfrm>
            <a:off x="5632704" y="1714500"/>
            <a:ext cx="292608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69280" y="1714500"/>
            <a:ext cx="287121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BD5E1"/>
                </a:solidFill>
              </a:rPr>
              <a:t>864 registers eliminated vs paper spec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182880" y="1920240"/>
            <a:ext cx="77724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9456" y="1920240"/>
            <a:ext cx="7223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6B35"/>
                </a:solidFill>
              </a:rPr>
              <a:t>Line Mem</a:t>
            </a:r>
            <a:endParaRPr lang="en-US" sz="720" dirty="0"/>
          </a:p>
        </p:txBody>
      </p:sp>
      <p:sp>
        <p:nvSpPr>
          <p:cNvPr id="53" name="Shape 51"/>
          <p:cNvSpPr/>
          <p:nvPr/>
        </p:nvSpPr>
        <p:spPr>
          <a:xfrm>
            <a:off x="987552" y="1920240"/>
            <a:ext cx="219456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24128" y="1920240"/>
            <a:ext cx="213969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Circular WAG wrap (no subtractor)</a:t>
            </a:r>
            <a:endParaRPr lang="en-US" sz="720" dirty="0"/>
          </a:p>
        </p:txBody>
      </p:sp>
      <p:sp>
        <p:nvSpPr>
          <p:cNvPr id="55" name="Shape 53"/>
          <p:cNvSpPr/>
          <p:nvPr/>
        </p:nvSpPr>
        <p:spPr>
          <a:xfrm>
            <a:off x="3218688" y="1920240"/>
            <a:ext cx="237744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55264" y="1920240"/>
            <a:ext cx="23225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Ternary vs comparator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5632704" y="1920240"/>
            <a:ext cx="292608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69280" y="1920240"/>
            <a:ext cx="287121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BD5E1"/>
                </a:solidFill>
              </a:rPr>
              <a:t>Single carry-chain equality, no adder</a:t>
            </a:r>
            <a:endParaRPr lang="en-US" sz="720" dirty="0"/>
          </a:p>
        </p:txBody>
      </p:sp>
      <p:sp>
        <p:nvSpPr>
          <p:cNvPr id="59" name="Shape 57"/>
          <p:cNvSpPr/>
          <p:nvPr/>
        </p:nvSpPr>
        <p:spPr>
          <a:xfrm>
            <a:off x="182880" y="2125980"/>
            <a:ext cx="77724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19456" y="2125980"/>
            <a:ext cx="7223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39C5A5"/>
                </a:solidFill>
              </a:rPr>
              <a:t>PE Core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987552" y="2125980"/>
            <a:ext cx="219456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24128" y="2125980"/>
            <a:ext cx="213969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input_reg stride-gated (−87% toggle)</a:t>
            </a:r>
            <a:endParaRPr lang="en-US" sz="720" dirty="0"/>
          </a:p>
        </p:txBody>
      </p:sp>
      <p:sp>
        <p:nvSpPr>
          <p:cNvPr id="63" name="Shape 61"/>
          <p:cNvSpPr/>
          <p:nvPr/>
        </p:nvSpPr>
        <p:spPr>
          <a:xfrm>
            <a:off x="3218688" y="2125980"/>
            <a:ext cx="237744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55264" y="2125980"/>
            <a:ext cx="23225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Clock enable on Stride_Request only</a:t>
            </a:r>
            <a:endParaRPr lang="en-US" sz="720" dirty="0"/>
          </a:p>
        </p:txBody>
      </p:sp>
      <p:sp>
        <p:nvSpPr>
          <p:cNvPr id="65" name="Shape 63"/>
          <p:cNvSpPr/>
          <p:nvPr/>
        </p:nvSpPr>
        <p:spPr>
          <a:xfrm>
            <a:off x="5632704" y="2125980"/>
            <a:ext cx="292608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669280" y="2125980"/>
            <a:ext cx="287121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BD5E1"/>
                </a:solidFill>
              </a:rPr>
              <a:t>~87.5% switching reduction per PE input reg</a:t>
            </a:r>
            <a:endParaRPr lang="en-US" sz="720" dirty="0"/>
          </a:p>
        </p:txBody>
      </p:sp>
      <p:sp>
        <p:nvSpPr>
          <p:cNvPr id="67" name="Shape 65"/>
          <p:cNvSpPr/>
          <p:nvPr/>
        </p:nvSpPr>
        <p:spPr>
          <a:xfrm>
            <a:off x="182880" y="2331720"/>
            <a:ext cx="77724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19456" y="2331720"/>
            <a:ext cx="7223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39C5A5"/>
                </a:solidFill>
              </a:rPr>
              <a:t>PE Core</a:t>
            </a:r>
            <a:endParaRPr lang="en-US" sz="720" dirty="0"/>
          </a:p>
        </p:txBody>
      </p:sp>
      <p:sp>
        <p:nvSpPr>
          <p:cNvPr id="69" name="Shape 67"/>
          <p:cNvSpPr/>
          <p:nvPr/>
        </p:nvSpPr>
        <p:spPr>
          <a:xfrm>
            <a:off x="987552" y="2331720"/>
            <a:ext cx="219456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24128" y="2331720"/>
            <a:ext cx="213969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Weight Dout zeroed when RE=0</a:t>
            </a:r>
            <a:endParaRPr lang="en-US" sz="720" dirty="0"/>
          </a:p>
        </p:txBody>
      </p:sp>
      <p:sp>
        <p:nvSpPr>
          <p:cNvPr id="71" name="Shape 69"/>
          <p:cNvSpPr/>
          <p:nvPr/>
        </p:nvSpPr>
        <p:spPr>
          <a:xfrm>
            <a:off x="3218688" y="2331720"/>
            <a:ext cx="237744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55264" y="2331720"/>
            <a:ext cx="23225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wire Dout = RE ? wmem[RA] : '0</a:t>
            </a:r>
            <a:endParaRPr lang="en-US" sz="720" dirty="0"/>
          </a:p>
        </p:txBody>
      </p:sp>
      <p:sp>
        <p:nvSpPr>
          <p:cNvPr id="73" name="Shape 71"/>
          <p:cNvSpPr/>
          <p:nvPr/>
        </p:nvSpPr>
        <p:spPr>
          <a:xfrm>
            <a:off x="5632704" y="2331720"/>
            <a:ext cx="292608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669280" y="2331720"/>
            <a:ext cx="287121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BD5E1"/>
                </a:solidFill>
              </a:rPr>
              <a:t>Multiplier input constant when idle → no switching</a:t>
            </a:r>
            <a:endParaRPr lang="en-US" sz="720" dirty="0"/>
          </a:p>
        </p:txBody>
      </p:sp>
      <p:sp>
        <p:nvSpPr>
          <p:cNvPr id="75" name="Shape 73"/>
          <p:cNvSpPr/>
          <p:nvPr/>
        </p:nvSpPr>
        <p:spPr>
          <a:xfrm>
            <a:off x="182880" y="2537460"/>
            <a:ext cx="77724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19456" y="2537460"/>
            <a:ext cx="7223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39C5A5"/>
                </a:solidFill>
              </a:rPr>
              <a:t>PE Core</a:t>
            </a:r>
            <a:endParaRPr lang="en-US" sz="720" dirty="0"/>
          </a:p>
        </p:txBody>
      </p:sp>
      <p:sp>
        <p:nvSpPr>
          <p:cNvPr id="77" name="Shape 75"/>
          <p:cNvSpPr/>
          <p:nvPr/>
        </p:nvSpPr>
        <p:spPr>
          <a:xfrm>
            <a:off x="987552" y="2537460"/>
            <a:ext cx="219456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24128" y="2537460"/>
            <a:ext cx="213969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R6_r_Delta 7-bit packed port</a:t>
            </a:r>
            <a:endParaRPr lang="en-US" sz="720" dirty="0"/>
          </a:p>
        </p:txBody>
      </p:sp>
      <p:sp>
        <p:nvSpPr>
          <p:cNvPr id="79" name="Shape 77"/>
          <p:cNvSpPr/>
          <p:nvPr/>
        </p:nvSpPr>
        <p:spPr>
          <a:xfrm>
            <a:off x="3218688" y="2537460"/>
            <a:ext cx="237744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255264" y="2537460"/>
            <a:ext cx="23225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Bit-select decode; 3 params in 1 port</a:t>
            </a:r>
            <a:endParaRPr lang="en-US" sz="720" dirty="0"/>
          </a:p>
        </p:txBody>
      </p:sp>
      <p:sp>
        <p:nvSpPr>
          <p:cNvPr id="81" name="Shape 79"/>
          <p:cNvSpPr/>
          <p:nvPr/>
        </p:nvSpPr>
        <p:spPr>
          <a:xfrm>
            <a:off x="5632704" y="2537460"/>
            <a:ext cx="292608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669280" y="2537460"/>
            <a:ext cx="287121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BD5E1"/>
                </a:solidFill>
              </a:rPr>
              <a:t>1 728 fewer PE control wires routed</a:t>
            </a:r>
            <a:endParaRPr lang="en-US" sz="720" dirty="0"/>
          </a:p>
        </p:txBody>
      </p:sp>
      <p:sp>
        <p:nvSpPr>
          <p:cNvPr id="83" name="Shape 81"/>
          <p:cNvSpPr/>
          <p:nvPr/>
        </p:nvSpPr>
        <p:spPr>
          <a:xfrm>
            <a:off x="182880" y="2743200"/>
            <a:ext cx="77724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19456" y="2743200"/>
            <a:ext cx="7223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39C5A5"/>
                </a:solidFill>
              </a:rPr>
              <a:t>PE Core</a:t>
            </a:r>
            <a:endParaRPr lang="en-US" sz="720" dirty="0"/>
          </a:p>
        </p:txBody>
      </p:sp>
      <p:sp>
        <p:nvSpPr>
          <p:cNvPr id="85" name="Shape 83"/>
          <p:cNvSpPr/>
          <p:nvPr/>
        </p:nvSpPr>
        <p:spPr>
          <a:xfrm>
            <a:off x="987552" y="2743200"/>
            <a:ext cx="219456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24128" y="2743200"/>
            <a:ext cx="213969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RA resets on Stride_Request (reuse)</a:t>
            </a:r>
            <a:endParaRPr lang="en-US" sz="720" dirty="0"/>
          </a:p>
        </p:txBody>
      </p:sp>
      <p:sp>
        <p:nvSpPr>
          <p:cNvPr id="87" name="Shape 85"/>
          <p:cNvSpPr/>
          <p:nvPr/>
        </p:nvSpPr>
        <p:spPr>
          <a:xfrm>
            <a:off x="3218688" y="2743200"/>
            <a:ext cx="237744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255264" y="2743200"/>
            <a:ext cx="23225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if(rst || Stride_Request) RA &lt;= '0</a:t>
            </a:r>
            <a:endParaRPr lang="en-US" sz="720" dirty="0"/>
          </a:p>
        </p:txBody>
      </p:sp>
      <p:sp>
        <p:nvSpPr>
          <p:cNvPr id="89" name="Shape 87"/>
          <p:cNvSpPr/>
          <p:nvPr/>
        </p:nvSpPr>
        <p:spPr>
          <a:xfrm>
            <a:off x="5632704" y="2743200"/>
            <a:ext cx="292608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669280" y="2743200"/>
            <a:ext cx="287121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BD5E1"/>
                </a:solidFill>
              </a:rPr>
              <a:t>No separate reset signal; fewer control lines</a:t>
            </a:r>
            <a:endParaRPr lang="en-US" sz="720" dirty="0"/>
          </a:p>
        </p:txBody>
      </p:sp>
      <p:sp>
        <p:nvSpPr>
          <p:cNvPr id="91" name="Shape 89"/>
          <p:cNvSpPr/>
          <p:nvPr/>
        </p:nvSpPr>
        <p:spPr>
          <a:xfrm>
            <a:off x="182880" y="2948940"/>
            <a:ext cx="77724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19456" y="2948940"/>
            <a:ext cx="7223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39C5A5"/>
                </a:solidFill>
              </a:rPr>
              <a:t>PE Core</a:t>
            </a:r>
            <a:endParaRPr lang="en-US" sz="720" dirty="0"/>
          </a:p>
        </p:txBody>
      </p:sp>
      <p:sp>
        <p:nvSpPr>
          <p:cNvPr id="93" name="Shape 91"/>
          <p:cNvSpPr/>
          <p:nvPr/>
        </p:nvSpPr>
        <p:spPr>
          <a:xfrm>
            <a:off x="987552" y="2948940"/>
            <a:ext cx="219456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024128" y="2948940"/>
            <a:ext cx="213969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Psum column chaining (bias at j=0)</a:t>
            </a:r>
            <a:endParaRPr lang="en-US" sz="720" dirty="0"/>
          </a:p>
        </p:txBody>
      </p:sp>
      <p:sp>
        <p:nvSpPr>
          <p:cNvPr id="95" name="Shape 93"/>
          <p:cNvSpPr/>
          <p:nvPr/>
        </p:nvSpPr>
        <p:spPr>
          <a:xfrm>
            <a:off x="3218688" y="2948940"/>
            <a:ext cx="237744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255264" y="2948940"/>
            <a:ext cx="23225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27-stage chain via existing MAC accum path</a:t>
            </a:r>
            <a:endParaRPr lang="en-US" sz="720" dirty="0"/>
          </a:p>
        </p:txBody>
      </p:sp>
      <p:sp>
        <p:nvSpPr>
          <p:cNvPr id="97" name="Shape 95"/>
          <p:cNvSpPr/>
          <p:nvPr/>
        </p:nvSpPr>
        <p:spPr>
          <a:xfrm>
            <a:off x="5632704" y="2948940"/>
            <a:ext cx="292608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669280" y="2948940"/>
            <a:ext cx="287121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BD5E1"/>
                </a:solidFill>
              </a:rPr>
              <a:t>27-deep accumulation with zero extra adders</a:t>
            </a:r>
            <a:endParaRPr lang="en-US" sz="720" dirty="0"/>
          </a:p>
        </p:txBody>
      </p:sp>
      <p:sp>
        <p:nvSpPr>
          <p:cNvPr id="99" name="Shape 97"/>
          <p:cNvSpPr/>
          <p:nvPr/>
        </p:nvSpPr>
        <p:spPr>
          <a:xfrm>
            <a:off x="182880" y="3154680"/>
            <a:ext cx="77724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19456" y="3154680"/>
            <a:ext cx="7223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39C5A5"/>
                </a:solidFill>
              </a:rPr>
              <a:t>PE Core</a:t>
            </a:r>
            <a:endParaRPr lang="en-US" sz="720" dirty="0"/>
          </a:p>
        </p:txBody>
      </p:sp>
      <p:sp>
        <p:nvSpPr>
          <p:cNvPr id="101" name="Shape 99"/>
          <p:cNvSpPr/>
          <p:nvPr/>
        </p:nvSpPr>
        <p:spPr>
          <a:xfrm>
            <a:off x="987552" y="3154680"/>
            <a:ext cx="219456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024128" y="3154680"/>
            <a:ext cx="213969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Adder tree combinational (no reg)</a:t>
            </a:r>
            <a:endParaRPr lang="en-US" sz="720" dirty="0"/>
          </a:p>
        </p:txBody>
      </p:sp>
      <p:sp>
        <p:nvSpPr>
          <p:cNvPr id="103" name="Shape 101"/>
          <p:cNvSpPr/>
          <p:nvPr/>
        </p:nvSpPr>
        <p:spPr>
          <a:xfrm>
            <a:off x="3218688" y="3154680"/>
            <a:ext cx="237744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255264" y="3154680"/>
            <a:ext cx="23225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always_comb final 32-row sum</a:t>
            </a:r>
            <a:endParaRPr lang="en-US" sz="720" dirty="0"/>
          </a:p>
        </p:txBody>
      </p:sp>
      <p:sp>
        <p:nvSpPr>
          <p:cNvPr id="105" name="Shape 103"/>
          <p:cNvSpPr/>
          <p:nvPr/>
        </p:nvSpPr>
        <p:spPr>
          <a:xfrm>
            <a:off x="5632704" y="3154680"/>
            <a:ext cx="292608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669280" y="3154680"/>
            <a:ext cx="287121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BD5E1"/>
                </a:solidFill>
              </a:rPr>
              <a:t>Clean warmup formula; saves 21 FFs</a:t>
            </a:r>
            <a:endParaRPr lang="en-US" sz="720" dirty="0"/>
          </a:p>
        </p:txBody>
      </p:sp>
      <p:sp>
        <p:nvSpPr>
          <p:cNvPr id="107" name="Shape 105"/>
          <p:cNvSpPr/>
          <p:nvPr/>
        </p:nvSpPr>
        <p:spPr>
          <a:xfrm>
            <a:off x="182880" y="3360420"/>
            <a:ext cx="77724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19456" y="3360420"/>
            <a:ext cx="7223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855F7"/>
                </a:solidFill>
              </a:rPr>
              <a:t>IEC</a:t>
            </a:r>
            <a:endParaRPr lang="en-US" sz="720" dirty="0"/>
          </a:p>
        </p:txBody>
      </p:sp>
      <p:sp>
        <p:nvSpPr>
          <p:cNvPr id="109" name="Shape 107"/>
          <p:cNvSpPr/>
          <p:nvPr/>
        </p:nvSpPr>
        <p:spPr>
          <a:xfrm>
            <a:off x="987552" y="3360420"/>
            <a:ext cx="219456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1024128" y="3360420"/>
            <a:ext cx="213969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One-cycle reset pulses (kpu_rst, cu_rst)</a:t>
            </a:r>
            <a:endParaRPr lang="en-US" sz="720" dirty="0"/>
          </a:p>
        </p:txBody>
      </p:sp>
      <p:sp>
        <p:nvSpPr>
          <p:cNvPr id="111" name="Shape 109"/>
          <p:cNvSpPr/>
          <p:nvPr/>
        </p:nvSpPr>
        <p:spPr>
          <a:xfrm>
            <a:off x="3218688" y="3360420"/>
            <a:ext cx="237744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255264" y="3360420"/>
            <a:ext cx="23225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Deassert at always_ff top; reassert per state</a:t>
            </a:r>
            <a:endParaRPr lang="en-US" sz="720" dirty="0"/>
          </a:p>
        </p:txBody>
      </p:sp>
      <p:sp>
        <p:nvSpPr>
          <p:cNvPr id="113" name="Shape 111"/>
          <p:cNvSpPr/>
          <p:nvPr/>
        </p:nvSpPr>
        <p:spPr>
          <a:xfrm>
            <a:off x="5632704" y="3360420"/>
            <a:ext cx="292608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669280" y="3360420"/>
            <a:ext cx="287121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BD5E1"/>
                </a:solidFill>
              </a:rPr>
              <a:t>Zero constant-zero drive energy waste</a:t>
            </a:r>
            <a:endParaRPr lang="en-US" sz="720" dirty="0"/>
          </a:p>
        </p:txBody>
      </p:sp>
      <p:sp>
        <p:nvSpPr>
          <p:cNvPr id="115" name="Shape 113"/>
          <p:cNvSpPr/>
          <p:nvPr/>
        </p:nvSpPr>
        <p:spPr>
          <a:xfrm>
            <a:off x="182880" y="3566160"/>
            <a:ext cx="77724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19456" y="3566160"/>
            <a:ext cx="7223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855F7"/>
                </a:solidFill>
              </a:rPr>
              <a:t>IEC</a:t>
            </a:r>
            <a:endParaRPr lang="en-US" sz="720" dirty="0"/>
          </a:p>
        </p:txBody>
      </p:sp>
      <p:sp>
        <p:nvSpPr>
          <p:cNvPr id="117" name="Shape 115"/>
          <p:cNvSpPr/>
          <p:nvPr/>
        </p:nvSpPr>
        <p:spPr>
          <a:xfrm>
            <a:off x="987552" y="3566160"/>
            <a:ext cx="219456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024128" y="3566160"/>
            <a:ext cx="213969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done_interrupt vs polling</a:t>
            </a:r>
            <a:endParaRPr lang="en-US" sz="720" dirty="0"/>
          </a:p>
        </p:txBody>
      </p:sp>
      <p:sp>
        <p:nvSpPr>
          <p:cNvPr id="119" name="Shape 117"/>
          <p:cNvSpPr/>
          <p:nvPr/>
        </p:nvSpPr>
        <p:spPr>
          <a:xfrm>
            <a:off x="3218688" y="3566160"/>
            <a:ext cx="237744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3255264" y="3566160"/>
            <a:ext cx="23225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Registered interrupt to ARM processor</a:t>
            </a:r>
            <a:endParaRPr lang="en-US" sz="720" dirty="0"/>
          </a:p>
        </p:txBody>
      </p:sp>
      <p:sp>
        <p:nvSpPr>
          <p:cNvPr id="121" name="Shape 119"/>
          <p:cNvSpPr/>
          <p:nvPr/>
        </p:nvSpPr>
        <p:spPr>
          <a:xfrm>
            <a:off x="5632704" y="3566160"/>
            <a:ext cx="292608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669280" y="3566160"/>
            <a:ext cx="287121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BD5E1"/>
                </a:solidFill>
              </a:rPr>
              <a:t>CPU sleeps during inference; wakes on interrupt</a:t>
            </a:r>
            <a:endParaRPr lang="en-US" sz="720" dirty="0"/>
          </a:p>
        </p:txBody>
      </p:sp>
      <p:sp>
        <p:nvSpPr>
          <p:cNvPr id="123" name="Shape 121"/>
          <p:cNvSpPr/>
          <p:nvPr/>
        </p:nvSpPr>
        <p:spPr>
          <a:xfrm>
            <a:off x="182880" y="3771900"/>
            <a:ext cx="77724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219456" y="3771900"/>
            <a:ext cx="7223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855F7"/>
                </a:solidFill>
              </a:rPr>
              <a:t>IEC</a:t>
            </a:r>
            <a:endParaRPr lang="en-US" sz="720" dirty="0"/>
          </a:p>
        </p:txBody>
      </p:sp>
      <p:sp>
        <p:nvSpPr>
          <p:cNvPr id="125" name="Shape 123"/>
          <p:cNvSpPr/>
          <p:nvPr/>
        </p:nvSpPr>
        <p:spPr>
          <a:xfrm>
            <a:off x="987552" y="3771900"/>
            <a:ext cx="219456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24128" y="3771900"/>
            <a:ext cx="213969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layer_config_ack single-cycle pulse</a:t>
            </a:r>
            <a:endParaRPr lang="en-US" sz="720" dirty="0"/>
          </a:p>
        </p:txBody>
      </p:sp>
      <p:sp>
        <p:nvSpPr>
          <p:cNvPr id="127" name="Shape 125"/>
          <p:cNvSpPr/>
          <p:nvPr/>
        </p:nvSpPr>
        <p:spPr>
          <a:xfrm>
            <a:off x="3218688" y="3771900"/>
            <a:ext cx="237744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255264" y="3771900"/>
            <a:ext cx="23225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1-cycle assertion on config capture</a:t>
            </a:r>
            <a:endParaRPr lang="en-US" sz="720" dirty="0"/>
          </a:p>
        </p:txBody>
      </p:sp>
      <p:sp>
        <p:nvSpPr>
          <p:cNvPr id="129" name="Shape 127"/>
          <p:cNvSpPr/>
          <p:nvPr/>
        </p:nvSpPr>
        <p:spPr>
          <a:xfrm>
            <a:off x="5632704" y="3771900"/>
            <a:ext cx="292608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669280" y="3771900"/>
            <a:ext cx="287121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BD5E1"/>
                </a:solidFill>
              </a:rPr>
              <a:t>Minimum config handshake latency</a:t>
            </a:r>
            <a:endParaRPr lang="en-US" sz="720" dirty="0"/>
          </a:p>
        </p:txBody>
      </p:sp>
      <p:sp>
        <p:nvSpPr>
          <p:cNvPr id="131" name="Shape 129"/>
          <p:cNvSpPr/>
          <p:nvPr/>
        </p:nvSpPr>
        <p:spPr>
          <a:xfrm>
            <a:off x="182880" y="3977640"/>
            <a:ext cx="77724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219456" y="3977640"/>
            <a:ext cx="7223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855F7"/>
                </a:solidFill>
              </a:rPr>
              <a:t>IEC</a:t>
            </a:r>
            <a:endParaRPr lang="en-US" sz="720" dirty="0"/>
          </a:p>
        </p:txBody>
      </p:sp>
      <p:sp>
        <p:nvSpPr>
          <p:cNvPr id="133" name="Shape 131"/>
          <p:cNvSpPr/>
          <p:nvPr/>
        </p:nvSpPr>
        <p:spPr>
          <a:xfrm>
            <a:off x="987552" y="3977640"/>
            <a:ext cx="219456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024128" y="3977640"/>
            <a:ext cx="213969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Combinational last_iter &amp; l_is_FClast</a:t>
            </a:r>
            <a:endParaRPr lang="en-US" sz="720" dirty="0"/>
          </a:p>
        </p:txBody>
      </p:sp>
      <p:sp>
        <p:nvSpPr>
          <p:cNvPr id="135" name="Shape 133"/>
          <p:cNvSpPr/>
          <p:nvPr/>
        </p:nvSpPr>
        <p:spPr>
          <a:xfrm>
            <a:off x="3218688" y="3977640"/>
            <a:ext cx="237744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3255264" y="3977640"/>
            <a:ext cx="23225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wire from registered values</a:t>
            </a:r>
            <a:endParaRPr lang="en-US" sz="720" dirty="0"/>
          </a:p>
        </p:txBody>
      </p:sp>
      <p:sp>
        <p:nvSpPr>
          <p:cNvPr id="137" name="Shape 135"/>
          <p:cNvSpPr/>
          <p:nvPr/>
        </p:nvSpPr>
        <p:spPr>
          <a:xfrm>
            <a:off x="5632704" y="3977640"/>
            <a:ext cx="292608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669280" y="3977640"/>
            <a:ext cx="287121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BD5E1"/>
                </a:solidFill>
              </a:rPr>
              <a:t>Branch in same cycle iteration completes</a:t>
            </a:r>
            <a:endParaRPr lang="en-US" sz="720" dirty="0"/>
          </a:p>
        </p:txBody>
      </p:sp>
      <p:sp>
        <p:nvSpPr>
          <p:cNvPr id="139" name="Shape 137"/>
          <p:cNvSpPr/>
          <p:nvPr/>
        </p:nvSpPr>
        <p:spPr>
          <a:xfrm>
            <a:off x="182880" y="4183380"/>
            <a:ext cx="77724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219456" y="4183380"/>
            <a:ext cx="7223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855F7"/>
                </a:solidFill>
              </a:rPr>
              <a:t>IEC</a:t>
            </a:r>
            <a:endParaRPr lang="en-US" sz="720" dirty="0"/>
          </a:p>
        </p:txBody>
      </p:sp>
      <p:sp>
        <p:nvSpPr>
          <p:cNvPr id="141" name="Shape 139"/>
          <p:cNvSpPr/>
          <p:nvPr/>
        </p:nvSpPr>
        <p:spPr>
          <a:xfrm>
            <a:off x="987552" y="4183380"/>
            <a:ext cx="219456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024128" y="4183380"/>
            <a:ext cx="213969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kpu_valid direct internal tap</a:t>
            </a:r>
            <a:endParaRPr lang="en-US" sz="720" dirty="0"/>
          </a:p>
        </p:txBody>
      </p:sp>
      <p:sp>
        <p:nvSpPr>
          <p:cNvPr id="143" name="Shape 141"/>
          <p:cNvSpPr/>
          <p:nvPr/>
        </p:nvSpPr>
        <p:spPr>
          <a:xfrm>
            <a:off x="3218688" y="4183380"/>
            <a:ext cx="237744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3255264" y="4183380"/>
            <a:ext cx="23225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assign kpu_valid = kpu_inst.load_done</a:t>
            </a:r>
            <a:endParaRPr lang="en-US" sz="720" dirty="0"/>
          </a:p>
        </p:txBody>
      </p:sp>
      <p:sp>
        <p:nvSpPr>
          <p:cNvPr id="145" name="Shape 143"/>
          <p:cNvSpPr/>
          <p:nvPr/>
        </p:nvSpPr>
        <p:spPr>
          <a:xfrm>
            <a:off x="5632704" y="4183380"/>
            <a:ext cx="292608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5669280" y="4183380"/>
            <a:ext cx="287121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BD5E1"/>
                </a:solidFill>
              </a:rPr>
              <a:t>Saves 1 FF; eliminates 1-cycle pipeline lag</a:t>
            </a:r>
            <a:endParaRPr lang="en-US" sz="720" dirty="0"/>
          </a:p>
        </p:txBody>
      </p:sp>
      <p:sp>
        <p:nvSpPr>
          <p:cNvPr id="147" name="Shape 145"/>
          <p:cNvSpPr/>
          <p:nvPr/>
        </p:nvSpPr>
        <p:spPr>
          <a:xfrm>
            <a:off x="182880" y="4389120"/>
            <a:ext cx="77724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219456" y="4389120"/>
            <a:ext cx="7223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39FF14"/>
                </a:solidFill>
              </a:rPr>
              <a:t>CU</a:t>
            </a:r>
            <a:endParaRPr lang="en-US" sz="720" dirty="0"/>
          </a:p>
        </p:txBody>
      </p:sp>
      <p:sp>
        <p:nvSpPr>
          <p:cNvPr id="149" name="Shape 147"/>
          <p:cNvSpPr/>
          <p:nvPr/>
        </p:nvSpPr>
        <p:spPr>
          <a:xfrm>
            <a:off x="987552" y="4389120"/>
            <a:ext cx="219456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1024128" y="4389120"/>
            <a:ext cx="213969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DSR zero-forces both output paths</a:t>
            </a:r>
            <a:endParaRPr lang="en-US" sz="720" dirty="0"/>
          </a:p>
        </p:txBody>
      </p:sp>
      <p:sp>
        <p:nvSpPr>
          <p:cNvPr id="151" name="Shape 149"/>
          <p:cNvSpPr/>
          <p:nvPr/>
        </p:nvSpPr>
        <p:spPr>
          <a:xfrm>
            <a:off x="3218688" y="4389120"/>
            <a:ext cx="237744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3255264" y="4389120"/>
            <a:ext cx="23225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Both paths always driven to defined value</a:t>
            </a:r>
            <a:endParaRPr lang="en-US" sz="720" dirty="0"/>
          </a:p>
        </p:txBody>
      </p:sp>
      <p:sp>
        <p:nvSpPr>
          <p:cNvPr id="153" name="Shape 151"/>
          <p:cNvSpPr/>
          <p:nvPr/>
        </p:nvSpPr>
        <p:spPr>
          <a:xfrm>
            <a:off x="5632704" y="4389120"/>
            <a:ext cx="292608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5669280" y="4389120"/>
            <a:ext cx="287121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BD5E1"/>
                </a:solidFill>
              </a:rPr>
              <a:t>No floating/stale bus; no undefined switching</a:t>
            </a:r>
            <a:endParaRPr lang="en-US" sz="720" dirty="0"/>
          </a:p>
        </p:txBody>
      </p:sp>
      <p:sp>
        <p:nvSpPr>
          <p:cNvPr id="155" name="Shape 153"/>
          <p:cNvSpPr/>
          <p:nvPr/>
        </p:nvSpPr>
        <p:spPr>
          <a:xfrm>
            <a:off x="182880" y="4594860"/>
            <a:ext cx="77724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219456" y="4594860"/>
            <a:ext cx="7223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39FF14"/>
                </a:solidFill>
              </a:rPr>
              <a:t>CU</a:t>
            </a:r>
            <a:endParaRPr lang="en-US" sz="720" dirty="0"/>
          </a:p>
        </p:txBody>
      </p:sp>
      <p:sp>
        <p:nvSpPr>
          <p:cNvPr id="157" name="Shape 155"/>
          <p:cNvSpPr/>
          <p:nvPr/>
        </p:nvSpPr>
        <p:spPr>
          <a:xfrm>
            <a:off x="987552" y="4594860"/>
            <a:ext cx="219456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1024128" y="4594860"/>
            <a:ext cx="213969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ACSU subtractor sign-bit comparator</a:t>
            </a:r>
            <a:endParaRPr lang="en-US" sz="720" dirty="0"/>
          </a:p>
        </p:txBody>
      </p:sp>
      <p:sp>
        <p:nvSpPr>
          <p:cNvPr id="159" name="Shape 157"/>
          <p:cNvSpPr/>
          <p:nvPr/>
        </p:nvSpPr>
        <p:spPr>
          <a:xfrm>
            <a:off x="3218688" y="4594860"/>
            <a:ext cx="237744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3255264" y="4594860"/>
            <a:ext cx="23225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wire update = !cmp[K-1]</a:t>
            </a:r>
            <a:endParaRPr lang="en-US" sz="720" dirty="0"/>
          </a:p>
        </p:txBody>
      </p:sp>
      <p:sp>
        <p:nvSpPr>
          <p:cNvPr id="161" name="Shape 159"/>
          <p:cNvSpPr/>
          <p:nvPr/>
        </p:nvSpPr>
        <p:spPr>
          <a:xfrm>
            <a:off x="5632704" y="4594860"/>
            <a:ext cx="292608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5669280" y="4594860"/>
            <a:ext cx="287121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BD5E1"/>
                </a:solidFill>
              </a:rPr>
              <a:t>Single 16-bit subtractor; MSB tapped; no CMP gate</a:t>
            </a:r>
            <a:endParaRPr lang="en-US" sz="720" dirty="0"/>
          </a:p>
        </p:txBody>
      </p:sp>
      <p:sp>
        <p:nvSpPr>
          <p:cNvPr id="163" name="Shape 161"/>
          <p:cNvSpPr/>
          <p:nvPr/>
        </p:nvSpPr>
        <p:spPr>
          <a:xfrm>
            <a:off x="182880" y="4800600"/>
            <a:ext cx="77724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219456" y="4800600"/>
            <a:ext cx="7223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39FF14"/>
                </a:solidFill>
              </a:rPr>
              <a:t>CU</a:t>
            </a:r>
            <a:endParaRPr lang="en-US" sz="720" dirty="0"/>
          </a:p>
        </p:txBody>
      </p:sp>
      <p:sp>
        <p:nvSpPr>
          <p:cNvPr id="165" name="Shape 163"/>
          <p:cNvSpPr/>
          <p:nvPr/>
        </p:nvSpPr>
        <p:spPr>
          <a:xfrm>
            <a:off x="987552" y="4800600"/>
            <a:ext cx="219456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1024128" y="4800600"/>
            <a:ext cx="213969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class_done registered (anti-glitch)</a:t>
            </a:r>
            <a:endParaRPr lang="en-US" sz="720" dirty="0"/>
          </a:p>
        </p:txBody>
      </p:sp>
      <p:sp>
        <p:nvSpPr>
          <p:cNvPr id="167" name="Shape 165"/>
          <p:cNvSpPr/>
          <p:nvPr/>
        </p:nvSpPr>
        <p:spPr>
          <a:xfrm>
            <a:off x="3218688" y="4800600"/>
            <a:ext cx="237744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3255264" y="4800600"/>
            <a:ext cx="23225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FF captures cn_reached one cycle later</a:t>
            </a:r>
            <a:endParaRPr lang="en-US" sz="720" dirty="0"/>
          </a:p>
        </p:txBody>
      </p:sp>
      <p:sp>
        <p:nvSpPr>
          <p:cNvPr id="169" name="Shape 167"/>
          <p:cNvSpPr/>
          <p:nvPr/>
        </p:nvSpPr>
        <p:spPr>
          <a:xfrm>
            <a:off x="5632704" y="4800600"/>
            <a:ext cx="292608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5669280" y="4800600"/>
            <a:ext cx="287121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BD5E1"/>
                </a:solidFill>
              </a:rPr>
              <a:t>No mid-cycle glitch on S_CLASSIFY→S_DONE</a:t>
            </a:r>
            <a:endParaRPr lang="en-US" sz="720" dirty="0"/>
          </a:p>
        </p:txBody>
      </p:sp>
      <p:sp>
        <p:nvSpPr>
          <p:cNvPr id="171" name="Shape 169"/>
          <p:cNvSpPr/>
          <p:nvPr/>
        </p:nvSpPr>
        <p:spPr>
          <a:xfrm>
            <a:off x="182880" y="5006340"/>
            <a:ext cx="77724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219456" y="5006340"/>
            <a:ext cx="7223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39FF14"/>
                </a:solidFill>
              </a:rPr>
              <a:t>CU</a:t>
            </a:r>
            <a:endParaRPr lang="en-US" sz="720" dirty="0"/>
          </a:p>
        </p:txBody>
      </p:sp>
      <p:sp>
        <p:nvSpPr>
          <p:cNvPr id="173" name="Shape 171"/>
          <p:cNvSpPr/>
          <p:nvPr/>
        </p:nvSpPr>
        <p:spPr>
          <a:xfrm>
            <a:off x="987552" y="5006340"/>
            <a:ext cx="219456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1024128" y="5006340"/>
            <a:ext cx="213969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Bare up-counter CNG</a:t>
            </a:r>
            <a:endParaRPr lang="en-US" sz="720" dirty="0"/>
          </a:p>
        </p:txBody>
      </p:sp>
      <p:sp>
        <p:nvSpPr>
          <p:cNvPr id="175" name="Shape 173"/>
          <p:cNvSpPr/>
          <p:nvPr/>
        </p:nvSpPr>
        <p:spPr>
          <a:xfrm>
            <a:off x="3218688" y="5006340"/>
            <a:ext cx="237744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3255264" y="5006340"/>
            <a:ext cx="23225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10-bit counter value = class number</a:t>
            </a:r>
            <a:endParaRPr lang="en-US" sz="720" dirty="0"/>
          </a:p>
        </p:txBody>
      </p:sp>
      <p:sp>
        <p:nvSpPr>
          <p:cNvPr id="177" name="Shape 175"/>
          <p:cNvSpPr/>
          <p:nvPr/>
        </p:nvSpPr>
        <p:spPr>
          <a:xfrm>
            <a:off x="5632704" y="5006340"/>
            <a:ext cx="2926080" cy="2057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5669280" y="5006340"/>
            <a:ext cx="287121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BD5E1"/>
                </a:solidFill>
              </a:rPr>
              <a:t>~1 000 decode gates eliminated for N=1 000</a:t>
            </a:r>
            <a:endParaRPr lang="en-US" sz="720" dirty="0"/>
          </a:p>
        </p:txBody>
      </p:sp>
      <p:sp>
        <p:nvSpPr>
          <p:cNvPr id="179" name="Shape 177"/>
          <p:cNvSpPr/>
          <p:nvPr/>
        </p:nvSpPr>
        <p:spPr>
          <a:xfrm>
            <a:off x="182880" y="5212080"/>
            <a:ext cx="77724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219456" y="5212080"/>
            <a:ext cx="7223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39FF14"/>
                </a:solidFill>
              </a:rPr>
              <a:t>CU</a:t>
            </a:r>
            <a:endParaRPr lang="en-US" sz="720" dirty="0"/>
          </a:p>
        </p:txBody>
      </p:sp>
      <p:sp>
        <p:nvSpPr>
          <p:cNvPr id="181" name="Shape 179"/>
          <p:cNvSpPr/>
          <p:nvPr/>
        </p:nvSpPr>
        <p:spPr>
          <a:xfrm>
            <a:off x="987552" y="5212080"/>
            <a:ext cx="219456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1024128" y="5212080"/>
            <a:ext cx="213969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acsu_cng_en 4-condition guard</a:t>
            </a:r>
            <a:endParaRPr lang="en-US" sz="720" dirty="0"/>
          </a:p>
        </p:txBody>
      </p:sp>
      <p:sp>
        <p:nvSpPr>
          <p:cNvPr id="183" name="Shape 181"/>
          <p:cNvSpPr/>
          <p:nvPr/>
        </p:nvSpPr>
        <p:spPr>
          <a:xfrm>
            <a:off x="3218688" y="5212080"/>
            <a:ext cx="237744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3255264" y="5212080"/>
            <a:ext cx="232257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N!=0 guard + CN_count&lt;N self-termination</a:t>
            </a:r>
            <a:endParaRPr lang="en-US" sz="720" dirty="0"/>
          </a:p>
        </p:txBody>
      </p:sp>
      <p:sp>
        <p:nvSpPr>
          <p:cNvPr id="185" name="Shape 183"/>
          <p:cNvSpPr/>
          <p:nvPr/>
        </p:nvSpPr>
        <p:spPr>
          <a:xfrm>
            <a:off x="5632704" y="5212080"/>
            <a:ext cx="2926080" cy="2057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5669280" y="5212080"/>
            <a:ext cx="2871216" cy="2057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BD5E1"/>
                </a:solidFill>
              </a:rPr>
              <a:t>Self-terminating after N; no extra controller</a:t>
            </a:r>
            <a:endParaRPr lang="en-US" sz="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B2A3D"/>
          </a:solidFill>
          <a:ln w="12700">
            <a:solidFill>
              <a:srgbClr val="1B2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Results &amp; 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Cumulative payoff of all SV throughput optimisations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1627632" cy="1234440"/>
          </a:xfrm>
          <a:prstGeom prst="rect">
            <a:avLst/>
          </a:prstGeom>
          <a:solidFill>
            <a:srgbClr val="162232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46304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6.65 TOPs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993392"/>
            <a:ext cx="16276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ASIC Peak Throughput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(28nm FD-SOI)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011680" y="1417320"/>
            <a:ext cx="1627632" cy="1234440"/>
          </a:xfrm>
          <a:prstGeom prst="rect">
            <a:avLst/>
          </a:prstGeom>
          <a:solidFill>
            <a:srgbClr val="162232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146304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35"/>
                </a:solidFill>
              </a:rPr>
              <a:t>3.85 GHz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011680" y="1993392"/>
            <a:ext cx="16276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ASIC Clock Frequency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749040" y="1417320"/>
            <a:ext cx="1627632" cy="1234440"/>
          </a:xfrm>
          <a:prstGeom prst="rect">
            <a:avLst/>
          </a:prstGeom>
          <a:solidFill>
            <a:srgbClr val="162232"/>
          </a:solidFill>
          <a:ln w="25400">
            <a:solidFill>
              <a:srgbClr val="39C5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9040" y="146304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9C5A5"/>
                </a:solidFill>
              </a:rPr>
              <a:t>σ = 1.0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49040" y="1993392"/>
            <a:ext cx="16276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Time Efficiency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(PEs never idle)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0" y="1417320"/>
            <a:ext cx="1627632" cy="1234440"/>
          </a:xfrm>
          <a:prstGeom prst="rect">
            <a:avLst/>
          </a:prstGeom>
          <a:solidFill>
            <a:srgbClr val="162232"/>
          </a:solidFill>
          <a:ln w="254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0" y="146304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55F7"/>
                </a:solidFill>
              </a:rPr>
              <a:t>3.68×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86400" y="1993392"/>
            <a:ext cx="16276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Throughput vs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State-of-Art [21]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223760" y="1417320"/>
            <a:ext cx="1627632" cy="1234440"/>
          </a:xfrm>
          <a:prstGeom prst="rect">
            <a:avLst/>
          </a:prstGeom>
          <a:solidFill>
            <a:srgbClr val="162232"/>
          </a:solidFill>
          <a:ln w="25400">
            <a:solidFill>
              <a:srgbClr val="39FF1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23760" y="146304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9FF14"/>
                </a:solidFill>
              </a:rPr>
              <a:t>21.8×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223760" y="1993392"/>
            <a:ext cx="16276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Energy Efficiency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vs [11]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2029968" cy="2103120"/>
          </a:xfrm>
          <a:prstGeom prst="rect">
            <a:avLst/>
          </a:prstGeom>
          <a:solidFill>
            <a:srgbClr val="162232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834640"/>
            <a:ext cx="2029968" cy="329184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" y="2834640"/>
            <a:ext cx="1938528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Clock-Gating at Every Level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7472" y="3182112"/>
            <a:ext cx="1920240" cy="1719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WAG/RAG frozen when unused. input_reg gated on Stride_Request. Weight Dout zeroed when RE=0. kpu_rst/cu_rst pulsed not held. Total: majority of flip-flops draw zero dynamic power on most cycles.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450592" y="2834640"/>
            <a:ext cx="2029968" cy="2103120"/>
          </a:xfrm>
          <a:prstGeom prst="rect">
            <a:avLst/>
          </a:prstGeom>
          <a:solidFill>
            <a:srgbClr val="162232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450592" y="2834640"/>
            <a:ext cx="2029968" cy="329184"/>
          </a:xfrm>
          <a:prstGeom prst="rect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05456" y="2834640"/>
            <a:ext cx="1938528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Port &amp; Wire Count Reduction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23744" y="3182112"/>
            <a:ext cx="1920240" cy="1719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Wr_Rr 2-bit bus and R6_r_Delta 7-bit packed port together eliminate 3,456 routed wires across the PE array. Simpler interconnect = faster timing closure and lower routing congestion.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26864" y="2834640"/>
            <a:ext cx="2029968" cy="2103120"/>
          </a:xfrm>
          <a:prstGeom prst="rect">
            <a:avLst/>
          </a:prstGeom>
          <a:solidFill>
            <a:srgbClr val="162232"/>
          </a:solidFill>
          <a:ln w="19050">
            <a:solidFill>
              <a:srgbClr val="39C5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26864" y="2834640"/>
            <a:ext cx="2029968" cy="329184"/>
          </a:xfrm>
          <a:prstGeom prst="rect">
            <a:avLst/>
          </a:prstGeom>
          <a:solidFill>
            <a:srgbClr val="39C5A5">
              <a:alpha val="80000"/>
            </a:srgbClr>
          </a:solidFill>
          <a:ln w="12700">
            <a:solidFill>
              <a:srgbClr val="39C5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1728" y="2834640"/>
            <a:ext cx="1938528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Hardware Collapsed to Arithmetic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00016" y="3182112"/>
            <a:ext cx="1920240" cy="1719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Output buffer → single modulo assign (−864 regs). Comparator → subtractor sign-bit (−1 CMP gate). CNG → bare counter (−~1000 decode gates). WAG wrap → ternary (−subtractor). Each saves area without losing throughput.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803136" y="2834640"/>
            <a:ext cx="2029968" cy="2103120"/>
          </a:xfrm>
          <a:prstGeom prst="rect">
            <a:avLst/>
          </a:prstGeom>
          <a:solidFill>
            <a:srgbClr val="162232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03136" y="2834640"/>
            <a:ext cx="2029968" cy="329184"/>
          </a:xfrm>
          <a:prstGeom prst="rect">
            <a:avLst/>
          </a:prstGeom>
          <a:solidFill>
            <a:srgbClr val="A855F7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2834640"/>
            <a:ext cx="1938528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Zero-Stall Pipeline Discipline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876288" y="3182112"/>
            <a:ext cx="1920240" cy="1719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Combinational last_iter / l_is_FClast ensures FSM branches with zero wasted cycles at layer boundaries. One-cycle ack handshake. Direct kpu_valid tap eliminates one pipeline lag. Warmup = Z + N_PE + 4 cleanly.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4956048"/>
            <a:ext cx="8595360" cy="0"/>
          </a:xfrm>
          <a:prstGeom prst="line">
            <a:avLst/>
          </a:prstGeom>
          <a:noFill/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97433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Islam et al., 'Energy-Efficient and High-Throughput CNN Inference Engine Based on Memory-Sharing and Data-Reusing for Edge Applications,' IEEE TCAS-I, Vol. 71, No. 7, July 2024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B2A3D"/>
          </a:solidFill>
          <a:ln w="12700">
            <a:solidFill>
              <a:srgbClr val="1B2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ASIC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3108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Cadence Innovus — 45nm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34564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CNN_Inference_Engine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3822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Clock: 10 ns | VDD: 0.9 V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4206240"/>
            <a:ext cx="338328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206240"/>
            <a:ext cx="14630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116 MHz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83080" y="4206240"/>
            <a:ext cx="1828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Max Achievable Freq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4645152"/>
            <a:ext cx="338328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645152"/>
            <a:ext cx="14630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69.77 mW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83080" y="4645152"/>
            <a:ext cx="1828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Total Power (45nm)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0" y="2286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Physical Design Flow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114800" y="749808"/>
            <a:ext cx="4663440" cy="475488"/>
          </a:xfrm>
          <a:prstGeom prst="rect">
            <a:avLst/>
          </a:prstGeom>
          <a:solidFill>
            <a:srgbClr val="162232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0" y="749808"/>
            <a:ext cx="73152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42816" y="836676"/>
            <a:ext cx="292608" cy="292608"/>
          </a:xfrm>
          <a:prstGeom prst="ellipse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42816" y="8366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17720" y="76809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Floorplan + Place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17720" y="9875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</a:rPr>
              <a:t>Density: 60.0% → 66.0%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7178040" y="841248"/>
            <a:ext cx="1508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Done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0" y="1293876"/>
            <a:ext cx="4663440" cy="475488"/>
          </a:xfrm>
          <a:prstGeom prst="rect">
            <a:avLst/>
          </a:prstGeom>
          <a:solidFill>
            <a:srgbClr val="162232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0" y="1293876"/>
            <a:ext cx="73152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42816" y="1380744"/>
            <a:ext cx="292608" cy="292608"/>
          </a:xfrm>
          <a:prstGeom prst="ellipse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42816" y="1380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17720" y="131216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preCTS timeDesign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17720" y="15316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</a:rPr>
              <a:t>WNS = 0.000 ns | 0 violations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7178040" y="1385316"/>
            <a:ext cx="1508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Clean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0" y="1837944"/>
            <a:ext cx="4663440" cy="475488"/>
          </a:xfrm>
          <a:prstGeom prst="rect">
            <a:avLst/>
          </a:prstGeom>
          <a:solidFill>
            <a:srgbClr val="162232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0" y="1837944"/>
            <a:ext cx="73152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42816" y="1924812"/>
            <a:ext cx="292608" cy="292608"/>
          </a:xfrm>
          <a:prstGeom prst="ellipse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42816" y="19248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617720" y="18562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CTS + Hold Fix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17720" y="20756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</a:rPr>
              <a:t>WNS = 0.000 ns | 0 violations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7178040" y="1929384"/>
            <a:ext cx="1508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Clean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114800" y="2382012"/>
            <a:ext cx="4663440" cy="475488"/>
          </a:xfrm>
          <a:prstGeom prst="rect">
            <a:avLst/>
          </a:prstGeom>
          <a:solidFill>
            <a:srgbClr val="162232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114800" y="2382012"/>
            <a:ext cx="73152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42816" y="2468880"/>
            <a:ext cx="292608" cy="292608"/>
          </a:xfrm>
          <a:prstGeom prst="ellipse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42816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617720" y="24003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postCTS timeDesign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17720" y="26197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</a:rPr>
              <a:t>WNS = +1.399 ns | 0 setup violations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7178040" y="2473452"/>
            <a:ext cx="1508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Clean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114800" y="2926080"/>
            <a:ext cx="4663440" cy="475488"/>
          </a:xfrm>
          <a:prstGeom prst="rect">
            <a:avLst/>
          </a:prstGeom>
          <a:solidFill>
            <a:srgbClr val="162232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114800" y="2926080"/>
            <a:ext cx="73152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42816" y="3012948"/>
            <a:ext cx="292608" cy="292608"/>
          </a:xfrm>
          <a:prstGeom prst="ellipse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42816" y="30129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617720" y="29443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Hold Analysis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617720" y="316382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</a:rPr>
              <a:t>WNS = +0.046 ns | 0 hold violations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7178040" y="3017520"/>
            <a:ext cx="1508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Clean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114800" y="3470148"/>
            <a:ext cx="4663440" cy="475488"/>
          </a:xfrm>
          <a:prstGeom prst="rect">
            <a:avLst/>
          </a:prstGeom>
          <a:solidFill>
            <a:srgbClr val="162232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114800" y="3470148"/>
            <a:ext cx="73152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242816" y="3557016"/>
            <a:ext cx="292608" cy="292608"/>
          </a:xfrm>
          <a:prstGeom prst="ellipse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42816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6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617720" y="348843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Route + Congestion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617720" y="37078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</a:rPr>
              <a:t>H: 0.00% | V: 0.00% overflow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7178040" y="3561588"/>
            <a:ext cx="1508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0% OvF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114800" y="4014216"/>
            <a:ext cx="4663440" cy="475488"/>
          </a:xfrm>
          <a:prstGeom prst="rect">
            <a:avLst/>
          </a:prstGeom>
          <a:solidFill>
            <a:srgbClr val="162232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114800" y="4014216"/>
            <a:ext cx="73152" cy="4754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242816" y="4101084"/>
            <a:ext cx="292608" cy="292608"/>
          </a:xfrm>
          <a:prstGeom prst="ellipse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42816" y="41010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7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617720" y="40325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Power Analysis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617720" y="42519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</a:rPr>
              <a:t>Voltus static @ 200 MHz activity model</a:t>
            </a:r>
            <a:endParaRPr lang="en-US" sz="820" dirty="0"/>
          </a:p>
        </p:txBody>
      </p:sp>
      <p:sp>
        <p:nvSpPr>
          <p:cNvPr id="63" name="Text 61"/>
          <p:cNvSpPr/>
          <p:nvPr/>
        </p:nvSpPr>
        <p:spPr>
          <a:xfrm>
            <a:off x="7178040" y="4105656"/>
            <a:ext cx="1508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D4FF"/>
                </a:solidFill>
              </a:rPr>
              <a:t>69.77mW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114800" y="4558284"/>
            <a:ext cx="4663440" cy="475488"/>
          </a:xfrm>
          <a:prstGeom prst="rect">
            <a:avLst/>
          </a:prstGeom>
          <a:solidFill>
            <a:srgbClr val="162232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114800" y="4558284"/>
            <a:ext cx="73152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242816" y="4645152"/>
            <a:ext cx="292608" cy="292608"/>
          </a:xfrm>
          <a:prstGeom prst="ellipse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42816" y="4645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8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4617720" y="45765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GDS Export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617720" y="47960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</a:rPr>
              <a:t>Final layout complete</a:t>
            </a:r>
            <a:endParaRPr lang="en-US" sz="820" dirty="0"/>
          </a:p>
        </p:txBody>
      </p:sp>
      <p:sp>
        <p:nvSpPr>
          <p:cNvPr id="70" name="Text 68"/>
          <p:cNvSpPr/>
          <p:nvPr/>
        </p:nvSpPr>
        <p:spPr>
          <a:xfrm>
            <a:off x="7178040" y="4649724"/>
            <a:ext cx="1508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Done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Closure 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Setup &amp; Hold — MMMC OCV | 45nm | CNN_Inference_Engine | Clock: 10 ns (100 MHz target) | All reg2reg paths: 275,000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58200" cy="420624"/>
          </a:xfrm>
          <a:prstGeom prst="rect">
            <a:avLst/>
          </a:prstGeom>
          <a:solidFill>
            <a:srgbClr val="0A1E1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68680"/>
            <a:ext cx="827532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achievable frequency:   1 / (T_clk − WNS) = 1 / (10 ns − 1.399 ns) = 1 / 8.601 ns ≈ 116.3 MHz   (0 setup violations, 0 hold violations)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4114800" cy="329184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89888"/>
            <a:ext cx="400507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Final Setup — postCTS (10 ns clock)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1481328" cy="338328"/>
          </a:xfrm>
          <a:prstGeom prst="rect">
            <a:avLst/>
          </a:prstGeom>
          <a:solidFill>
            <a:srgbClr val="1B3050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19072"/>
            <a:ext cx="1408176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Metric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47088" y="1719072"/>
            <a:ext cx="822960" cy="338328"/>
          </a:xfrm>
          <a:prstGeom prst="rect">
            <a:avLst/>
          </a:prstGeom>
          <a:solidFill>
            <a:srgbClr val="1B3050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92808" y="1719072"/>
            <a:ext cx="749808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all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670048" y="1719072"/>
            <a:ext cx="905256" cy="338328"/>
          </a:xfrm>
          <a:prstGeom prst="rect">
            <a:avLst/>
          </a:prstGeom>
          <a:solidFill>
            <a:srgbClr val="1B3050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15768" y="1719072"/>
            <a:ext cx="832104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reg2reg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575304" y="1719072"/>
            <a:ext cx="905256" cy="338328"/>
          </a:xfrm>
          <a:prstGeom prst="rect">
            <a:avLst/>
          </a:prstGeom>
          <a:solidFill>
            <a:srgbClr val="1B3050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21024" y="1719072"/>
            <a:ext cx="832104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default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057400"/>
            <a:ext cx="1481328" cy="338328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057400"/>
            <a:ext cx="1408176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BD5E1"/>
                </a:solidFill>
              </a:rPr>
              <a:t>WNS (ns)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847088" y="2057400"/>
            <a:ext cx="822960" cy="338328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92808" y="2057400"/>
            <a:ext cx="749808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55E"/>
                </a:solidFill>
              </a:rPr>
              <a:t>+1.399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670048" y="2057400"/>
            <a:ext cx="905256" cy="338328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15768" y="2057400"/>
            <a:ext cx="832104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55E"/>
                </a:solidFill>
              </a:rPr>
              <a:t>+1.399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575304" y="2057400"/>
            <a:ext cx="905256" cy="338328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21024" y="2057400"/>
            <a:ext cx="832104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55E"/>
                </a:solidFill>
              </a:rPr>
              <a:t>+3.577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2395728"/>
            <a:ext cx="1481328" cy="338328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395728"/>
            <a:ext cx="1408176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BD5E1"/>
                </a:solidFill>
              </a:rPr>
              <a:t>TNS (ns)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847088" y="2395728"/>
            <a:ext cx="822960" cy="338328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92808" y="2395728"/>
            <a:ext cx="749808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55E"/>
                </a:solidFill>
              </a:rPr>
              <a:t>0.000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670048" y="2395728"/>
            <a:ext cx="905256" cy="338328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15768" y="2395728"/>
            <a:ext cx="832104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55E"/>
                </a:solidFill>
              </a:rPr>
              <a:t>0.000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575304" y="2395728"/>
            <a:ext cx="905256" cy="338328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21024" y="2395728"/>
            <a:ext cx="832104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55E"/>
                </a:solidFill>
              </a:rPr>
              <a:t>0.000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2734056"/>
            <a:ext cx="1481328" cy="338328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2734056"/>
            <a:ext cx="1408176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BD5E1"/>
                </a:solidFill>
              </a:rPr>
              <a:t>Violating Paths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847088" y="2734056"/>
            <a:ext cx="822960" cy="338328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92808" y="2734056"/>
            <a:ext cx="749808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55E"/>
                </a:solidFill>
              </a:rPr>
              <a:t>0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670048" y="2734056"/>
            <a:ext cx="905256" cy="338328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15768" y="2734056"/>
            <a:ext cx="832104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55E"/>
                </a:solidFill>
              </a:rPr>
              <a:t>0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575304" y="2734056"/>
            <a:ext cx="905256" cy="338328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21024" y="2734056"/>
            <a:ext cx="832104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55E"/>
                </a:solidFill>
              </a:rPr>
              <a:t>0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65760" y="3072384"/>
            <a:ext cx="1481328" cy="338328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072384"/>
            <a:ext cx="1408176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BD5E1"/>
                </a:solidFill>
              </a:rPr>
              <a:t>All Paths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847088" y="3072384"/>
            <a:ext cx="822960" cy="338328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92808" y="3072384"/>
            <a:ext cx="749808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55E"/>
                </a:solidFill>
              </a:rPr>
              <a:t>275k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670048" y="3072384"/>
            <a:ext cx="905256" cy="338328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15768" y="3072384"/>
            <a:ext cx="832104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55E"/>
                </a:solidFill>
              </a:rPr>
              <a:t>275k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575304" y="3072384"/>
            <a:ext cx="905256" cy="338328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21024" y="3072384"/>
            <a:ext cx="832104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55E"/>
                </a:solidFill>
              </a:rPr>
              <a:t>82,629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65760" y="3410712"/>
            <a:ext cx="4114800" cy="274320"/>
          </a:xfrm>
          <a:prstGeom prst="rect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63440" y="1389888"/>
            <a:ext cx="4160520" cy="329184"/>
          </a:xfrm>
          <a:prstGeom prst="rect">
            <a:avLst/>
          </a:prstGeom>
          <a:solidFill>
            <a:srgbClr val="A855F7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0" y="1389888"/>
            <a:ext cx="405079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Final Hold Analysis (10 ns clock)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663440" y="1719072"/>
            <a:ext cx="1497787" cy="338328"/>
          </a:xfrm>
          <a:prstGeom prst="rect">
            <a:avLst/>
          </a:prstGeom>
          <a:solidFill>
            <a:srgbClr val="1B3050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09160" y="1719072"/>
            <a:ext cx="1424635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855F7"/>
                </a:solidFill>
              </a:rPr>
              <a:t>Metric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161227" y="1719072"/>
            <a:ext cx="832104" cy="338328"/>
          </a:xfrm>
          <a:prstGeom prst="rect">
            <a:avLst/>
          </a:prstGeom>
          <a:solidFill>
            <a:srgbClr val="1B3050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06947" y="1719072"/>
            <a:ext cx="758952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55F7"/>
                </a:solidFill>
              </a:rPr>
              <a:t>all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993331" y="1719072"/>
            <a:ext cx="915314" cy="338328"/>
          </a:xfrm>
          <a:prstGeom prst="rect">
            <a:avLst/>
          </a:prstGeom>
          <a:solidFill>
            <a:srgbClr val="1B3050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39051" y="1719072"/>
            <a:ext cx="842162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55F7"/>
                </a:solidFill>
              </a:rPr>
              <a:t>reg2reg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908646" y="1719072"/>
            <a:ext cx="915314" cy="338328"/>
          </a:xfrm>
          <a:prstGeom prst="rect">
            <a:avLst/>
          </a:prstGeom>
          <a:solidFill>
            <a:srgbClr val="1B3050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954366" y="1719072"/>
            <a:ext cx="842162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55F7"/>
                </a:solidFill>
              </a:rPr>
              <a:t>default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663440" y="2057400"/>
            <a:ext cx="1497787" cy="338328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09160" y="2057400"/>
            <a:ext cx="1424635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BD5E1"/>
                </a:solidFill>
              </a:rPr>
              <a:t>WNS (ns)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161227" y="2057400"/>
            <a:ext cx="832104" cy="338328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06947" y="2057400"/>
            <a:ext cx="758952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55E"/>
                </a:solidFill>
              </a:rPr>
              <a:t>+0.046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6993331" y="2057400"/>
            <a:ext cx="915314" cy="338328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039051" y="2057400"/>
            <a:ext cx="842162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55E"/>
                </a:solidFill>
              </a:rPr>
              <a:t>+0.046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7908646" y="2057400"/>
            <a:ext cx="915314" cy="338328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954366" y="2057400"/>
            <a:ext cx="842162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55E"/>
                </a:solidFill>
              </a:rPr>
              <a:t>+0.415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4663440" y="2395728"/>
            <a:ext cx="1497787" cy="338328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09160" y="2395728"/>
            <a:ext cx="1424635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BD5E1"/>
                </a:solidFill>
              </a:rPr>
              <a:t>TNS (ns)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6161227" y="2395728"/>
            <a:ext cx="832104" cy="338328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06947" y="2395728"/>
            <a:ext cx="758952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55E"/>
                </a:solidFill>
              </a:rPr>
              <a:t>0.000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6993331" y="2395728"/>
            <a:ext cx="915314" cy="338328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039051" y="2395728"/>
            <a:ext cx="842162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55E"/>
                </a:solidFill>
              </a:rPr>
              <a:t>0.000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7908646" y="2395728"/>
            <a:ext cx="915314" cy="338328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954366" y="2395728"/>
            <a:ext cx="842162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55E"/>
                </a:solidFill>
              </a:rPr>
              <a:t>0.000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4663440" y="2734056"/>
            <a:ext cx="1497787" cy="338328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709160" y="2734056"/>
            <a:ext cx="1424635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BD5E1"/>
                </a:solidFill>
              </a:rPr>
              <a:t>Violating Paths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6161227" y="2734056"/>
            <a:ext cx="832104" cy="338328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06947" y="2734056"/>
            <a:ext cx="758952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55E"/>
                </a:solidFill>
              </a:rPr>
              <a:t>0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6993331" y="2734056"/>
            <a:ext cx="915314" cy="338328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039051" y="2734056"/>
            <a:ext cx="842162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55E"/>
                </a:solidFill>
              </a:rPr>
              <a:t>0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7908646" y="2734056"/>
            <a:ext cx="915314" cy="338328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954366" y="2734056"/>
            <a:ext cx="842162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55E"/>
                </a:solidFill>
              </a:rPr>
              <a:t>0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4663440" y="3072384"/>
            <a:ext cx="1497787" cy="338328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709160" y="3072384"/>
            <a:ext cx="1424635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BD5E1"/>
                </a:solidFill>
              </a:rPr>
              <a:t>All Paths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6161227" y="3072384"/>
            <a:ext cx="832104" cy="338328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206947" y="3072384"/>
            <a:ext cx="758952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55E"/>
                </a:solidFill>
              </a:rPr>
              <a:t>275k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6993331" y="3072384"/>
            <a:ext cx="915314" cy="338328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039051" y="3072384"/>
            <a:ext cx="842162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55E"/>
                </a:solidFill>
              </a:rPr>
              <a:t>275k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7908646" y="3072384"/>
            <a:ext cx="915314" cy="338328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954366" y="3072384"/>
            <a:ext cx="842162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55E"/>
                </a:solidFill>
              </a:rPr>
              <a:t>82,616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4663440" y="3410712"/>
            <a:ext cx="4160520" cy="274320"/>
          </a:xfrm>
          <a:prstGeom prst="rect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65760" y="3493008"/>
            <a:ext cx="8458200" cy="292608"/>
          </a:xfrm>
          <a:prstGeom prst="rect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57200" y="3493008"/>
            <a:ext cx="83210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DRV Summary (postCTS)</a:t>
            </a:r>
            <a:endParaRPr lang="en-US" sz="1150" dirty="0"/>
          </a:p>
        </p:txBody>
      </p:sp>
      <p:sp>
        <p:nvSpPr>
          <p:cNvPr id="97" name="Shape 95"/>
          <p:cNvSpPr/>
          <p:nvPr/>
        </p:nvSpPr>
        <p:spPr>
          <a:xfrm>
            <a:off x="365760" y="3822192"/>
            <a:ext cx="1645920" cy="301752"/>
          </a:xfrm>
          <a:prstGeom prst="rect">
            <a:avLst/>
          </a:prstGeom>
          <a:solidFill>
            <a:srgbClr val="1B3050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11480" y="3822192"/>
            <a:ext cx="1572768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35"/>
                </a:solidFill>
              </a:rPr>
              <a:t>DRV Check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2011680" y="3822192"/>
            <a:ext cx="2103120" cy="301752"/>
          </a:xfrm>
          <a:prstGeom prst="rect">
            <a:avLst/>
          </a:prstGeom>
          <a:solidFill>
            <a:srgbClr val="1B3050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057400" y="3822192"/>
            <a:ext cx="2029968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35"/>
                </a:solidFill>
              </a:rPr>
              <a:t>Real Nets (terms)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4114800" y="3822192"/>
            <a:ext cx="2103120" cy="301752"/>
          </a:xfrm>
          <a:prstGeom prst="rect">
            <a:avLst/>
          </a:prstGeom>
          <a:solidFill>
            <a:srgbClr val="1B3050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160520" y="3822192"/>
            <a:ext cx="2029968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35"/>
                </a:solidFill>
              </a:rPr>
              <a:t>Worst Violation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6217920" y="3822192"/>
            <a:ext cx="2423160" cy="301752"/>
          </a:xfrm>
          <a:prstGeom prst="rect">
            <a:avLst/>
          </a:prstGeom>
          <a:solidFill>
            <a:srgbClr val="1B3050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263640" y="3822192"/>
            <a:ext cx="2350008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35"/>
                </a:solidFill>
              </a:rPr>
              <a:t>Status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365760" y="4123944"/>
            <a:ext cx="1645920" cy="301752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11480" y="4123944"/>
            <a:ext cx="1572768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max_cap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2011680" y="4123944"/>
            <a:ext cx="2103120" cy="301752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057400" y="4123944"/>
            <a:ext cx="2029968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0 (0)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4114800" y="4123944"/>
            <a:ext cx="2103120" cy="301752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160520" y="4123944"/>
            <a:ext cx="2029968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0.000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6217920" y="4123944"/>
            <a:ext cx="2423160" cy="301752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263640" y="4123944"/>
            <a:ext cx="2350008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PASS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365760" y="4425696"/>
            <a:ext cx="1645920" cy="301752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11480" y="4425696"/>
            <a:ext cx="1572768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max_tran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2011680" y="4425696"/>
            <a:ext cx="2103120" cy="301752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057400" y="4425696"/>
            <a:ext cx="2029968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0 (0)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4114800" y="4425696"/>
            <a:ext cx="2103120" cy="301752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160520" y="4425696"/>
            <a:ext cx="2029968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0.000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6217920" y="4425696"/>
            <a:ext cx="2423160" cy="301752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263640" y="4425696"/>
            <a:ext cx="2350008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PASS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>
            <a:off x="365760" y="4727448"/>
            <a:ext cx="1645920" cy="301752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11480" y="4727448"/>
            <a:ext cx="1572768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max_fanout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2011680" y="4727448"/>
            <a:ext cx="2103120" cy="301752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2057400" y="4727448"/>
            <a:ext cx="2029968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0 (0)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4114800" y="4727448"/>
            <a:ext cx="2103120" cy="301752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160520" y="4727448"/>
            <a:ext cx="2029968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0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6217920" y="4727448"/>
            <a:ext cx="2423160" cy="301752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263640" y="4727448"/>
            <a:ext cx="2350008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PASS</a:t>
            </a:r>
            <a:endParaRPr lang="en-US" sz="1000" dirty="0"/>
          </a:p>
        </p:txBody>
      </p:sp>
      <p:sp>
        <p:nvSpPr>
          <p:cNvPr id="129" name="Shape 127"/>
          <p:cNvSpPr/>
          <p:nvPr/>
        </p:nvSpPr>
        <p:spPr>
          <a:xfrm>
            <a:off x="365760" y="5029200"/>
            <a:ext cx="1645920" cy="301752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411480" y="5029200"/>
            <a:ext cx="1572768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max_length</a:t>
            </a:r>
            <a:endParaRPr lang="en-US" sz="1000" dirty="0"/>
          </a:p>
        </p:txBody>
      </p:sp>
      <p:sp>
        <p:nvSpPr>
          <p:cNvPr id="131" name="Shape 129"/>
          <p:cNvSpPr/>
          <p:nvPr/>
        </p:nvSpPr>
        <p:spPr>
          <a:xfrm>
            <a:off x="2011680" y="5029200"/>
            <a:ext cx="2103120" cy="301752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2057400" y="5029200"/>
            <a:ext cx="2029968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0 (0)</a:t>
            </a:r>
            <a:endParaRPr lang="en-US" sz="1000" dirty="0"/>
          </a:p>
        </p:txBody>
      </p:sp>
      <p:sp>
        <p:nvSpPr>
          <p:cNvPr id="133" name="Shape 131"/>
          <p:cNvSpPr/>
          <p:nvPr/>
        </p:nvSpPr>
        <p:spPr>
          <a:xfrm>
            <a:off x="4114800" y="5029200"/>
            <a:ext cx="2103120" cy="301752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160520" y="5029200"/>
            <a:ext cx="2029968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0</a:t>
            </a:r>
            <a:endParaRPr lang="en-US" sz="1000" dirty="0"/>
          </a:p>
        </p:txBody>
      </p:sp>
      <p:sp>
        <p:nvSpPr>
          <p:cNvPr id="135" name="Shape 133"/>
          <p:cNvSpPr/>
          <p:nvPr/>
        </p:nvSpPr>
        <p:spPr>
          <a:xfrm>
            <a:off x="6217920" y="5029200"/>
            <a:ext cx="2423160" cy="301752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6263640" y="5029200"/>
            <a:ext cx="2350008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PASS</a:t>
            </a:r>
            <a:endParaRPr lang="en-US" sz="1000" dirty="0"/>
          </a:p>
        </p:txBody>
      </p:sp>
      <p:sp>
        <p:nvSpPr>
          <p:cNvPr id="137" name="Shape 135"/>
          <p:cNvSpPr/>
          <p:nvPr/>
        </p:nvSpPr>
        <p:spPr>
          <a:xfrm>
            <a:off x="365760" y="5029200"/>
            <a:ext cx="8458200" cy="91440"/>
          </a:xfrm>
          <a:prstGeom prst="rect">
            <a:avLst/>
          </a:prstGeom>
          <a:solidFill>
            <a:srgbClr val="22C55E">
              <a:alpha val="3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365760" y="5029200"/>
            <a:ext cx="8458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2C55E"/>
                </a:solidFill>
              </a:rPr>
              <a:t>All DRV checks PASS | Complete timing closure — setup, hold, and design rules all satisfied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Congestion, Density &amp; Power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Cadence Voltus static power + Innovus reportCongestion | 45nm | VDD = 0.9 V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291840" cy="1920240"/>
          </a:xfrm>
          <a:prstGeom prst="rect">
            <a:avLst/>
          </a:prstGeom>
          <a:solidFill>
            <a:srgbClr val="162232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3291840" cy="329184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32004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Routing Congestion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3108960" cy="1508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Overflow:  0 nets  (0.00%)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Overflow:  0 nets  (0.00%)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Hotspot area (norm.):  0.00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 H: 10.1%   V: 13.2%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GCells at remain≥5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794760" y="914400"/>
            <a:ext cx="4983480" cy="1920240"/>
          </a:xfrm>
          <a:prstGeom prst="rect">
            <a:avLst/>
          </a:prstGeom>
          <a:solidFill>
            <a:srgbClr val="162232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94760" y="914400"/>
            <a:ext cx="4983480" cy="329184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914400"/>
            <a:ext cx="4892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Cell Density Across Flow Stages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886200" y="133502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Post-Place (prePlaceOpt)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86200" y="1517904"/>
            <a:ext cx="3566160" cy="201168"/>
          </a:xfrm>
          <a:prstGeom prst="rect">
            <a:avLst/>
          </a:prstGeom>
          <a:solidFill>
            <a:srgbClr val="1B2A3D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86200" y="1517904"/>
            <a:ext cx="2139518" cy="201168"/>
          </a:xfrm>
          <a:prstGeom prst="rect">
            <a:avLst/>
          </a:prstGeom>
          <a:solidFill>
            <a:srgbClr val="00D4FF">
              <a:alpha val="75000"/>
            </a:srgbClr>
          </a:solidFill>
          <a:ln w="12700">
            <a:solidFill>
              <a:srgbClr val="00D4FF">
                <a:alpha val="7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15179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59.995%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86200" y="182880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preCTS (after routeDesign)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86200" y="2011680"/>
            <a:ext cx="3566160" cy="201168"/>
          </a:xfrm>
          <a:prstGeom prst="rect">
            <a:avLst/>
          </a:prstGeom>
          <a:solidFill>
            <a:srgbClr val="1B2A3D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86200" y="2011680"/>
            <a:ext cx="2354379" cy="201168"/>
          </a:xfrm>
          <a:prstGeom prst="rect">
            <a:avLst/>
          </a:prstGeom>
          <a:solidFill>
            <a:srgbClr val="00D4FF">
              <a:alpha val="75000"/>
            </a:srgbClr>
          </a:solidFill>
          <a:ln w="12700">
            <a:solidFill>
              <a:srgbClr val="00D4FF">
                <a:alpha val="7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0" y="20116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66.02%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86200" y="232257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postCTS (after optHold)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86200" y="2505456"/>
            <a:ext cx="3566160" cy="201168"/>
          </a:xfrm>
          <a:prstGeom prst="rect">
            <a:avLst/>
          </a:prstGeom>
          <a:solidFill>
            <a:srgbClr val="1B2A3D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86200" y="2505456"/>
            <a:ext cx="2334159" cy="201168"/>
          </a:xfrm>
          <a:prstGeom prst="rect">
            <a:avLst/>
          </a:prstGeom>
          <a:solidFill>
            <a:srgbClr val="00D4FF">
              <a:alpha val="75000"/>
            </a:srgbClr>
          </a:solidFill>
          <a:ln w="12700">
            <a:solidFill>
              <a:srgbClr val="00D4FF">
                <a:alpha val="7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0" y="25054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65.453%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944368"/>
            <a:ext cx="8458200" cy="320040"/>
          </a:xfrm>
          <a:prstGeom prst="rect">
            <a:avLst/>
          </a:prstGeom>
          <a:solidFill>
            <a:srgbClr val="1A2A1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944368"/>
            <a:ext cx="83210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</a:rPr>
              <a:t>Cadence Voltus Static Power Report — Total: 69.77 mW @ 0.9 V  |  775,355 instances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5760" y="3337560"/>
            <a:ext cx="1993392" cy="822960"/>
          </a:xfrm>
          <a:prstGeom prst="rect">
            <a:avLst/>
          </a:prstGeom>
          <a:solidFill>
            <a:srgbClr val="162232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5760" y="33832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</a:rPr>
              <a:t>46.18 mW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65760" y="374904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Internal  (66.2%)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487168" y="3337560"/>
            <a:ext cx="1993392" cy="822960"/>
          </a:xfrm>
          <a:prstGeom prst="rect">
            <a:avLst/>
          </a:prstGeom>
          <a:solidFill>
            <a:srgbClr val="162232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487168" y="33832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</a:rPr>
              <a:t>23.54 mW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487168" y="374904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Switching  (33.7%)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08576" y="3337560"/>
            <a:ext cx="1993392" cy="822960"/>
          </a:xfrm>
          <a:prstGeom prst="rect">
            <a:avLst/>
          </a:prstGeom>
          <a:solidFill>
            <a:srgbClr val="162232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608576" y="33832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55F7"/>
                </a:solidFill>
              </a:rPr>
              <a:t>0.049 mW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608576" y="374904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Leakage  (0.07%)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29984" y="3337560"/>
            <a:ext cx="1993392" cy="822960"/>
          </a:xfrm>
          <a:prstGeom prst="rect">
            <a:avLst/>
          </a:prstGeom>
          <a:solidFill>
            <a:srgbClr val="162232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729984" y="33832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</a:rPr>
              <a:t>69.77 mW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729984" y="374904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Total  (100%)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4242816"/>
            <a:ext cx="8458200" cy="256032"/>
          </a:xfrm>
          <a:prstGeom prst="rect">
            <a:avLst/>
          </a:prstGeom>
          <a:solidFill>
            <a:srgbClr val="1B3050"/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" y="4242816"/>
            <a:ext cx="1682496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Group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139696" y="4242816"/>
            <a:ext cx="1499616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Internal (mW)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694176" y="4242816"/>
            <a:ext cx="1636776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Switching (mW)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385816" y="4242816"/>
            <a:ext cx="1316736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Leakage (mW)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757416" y="4242816"/>
            <a:ext cx="1316736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Total (mW)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129016" y="4242816"/>
            <a:ext cx="585216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%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65760" y="4507992"/>
            <a:ext cx="1737360" cy="210312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2336" y="4507992"/>
            <a:ext cx="1682496" cy="2103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BD5E1"/>
                </a:solidFill>
              </a:rPr>
              <a:t>Sequential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103120" y="4507992"/>
            <a:ext cx="1554480" cy="210312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39696" y="4507992"/>
            <a:ext cx="1499616" cy="2103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22.46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657600" y="4507992"/>
            <a:ext cx="1691640" cy="210312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94176" y="4507992"/>
            <a:ext cx="1636776" cy="2103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1.552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349240" y="4507992"/>
            <a:ext cx="1371600" cy="210312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85816" y="4507992"/>
            <a:ext cx="1316736" cy="2103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0.013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720840" y="4507992"/>
            <a:ext cx="1371600" cy="210312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57416" y="4507992"/>
            <a:ext cx="1316736" cy="2103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24.02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092440" y="4507992"/>
            <a:ext cx="640080" cy="210312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129016" y="4507992"/>
            <a:ext cx="585216" cy="2103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34.43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65760" y="4718304"/>
            <a:ext cx="1737360" cy="210312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2336" y="4718304"/>
            <a:ext cx="1682496" cy="2103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BD5E1"/>
                </a:solidFill>
              </a:rPr>
              <a:t>Combinational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103120" y="4718304"/>
            <a:ext cx="1554480" cy="210312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139696" y="4718304"/>
            <a:ext cx="1499616" cy="2103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20.40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657600" y="4718304"/>
            <a:ext cx="1691640" cy="210312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94176" y="4718304"/>
            <a:ext cx="1636776" cy="2103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17.24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349240" y="4718304"/>
            <a:ext cx="1371600" cy="210312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85816" y="4718304"/>
            <a:ext cx="1316736" cy="2103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0.036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720840" y="4718304"/>
            <a:ext cx="1371600" cy="210312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57416" y="4718304"/>
            <a:ext cx="1316736" cy="2103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37.67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8092440" y="4718304"/>
            <a:ext cx="640080" cy="210312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129016" y="4718304"/>
            <a:ext cx="585216" cy="2103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54.00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365760" y="4928616"/>
            <a:ext cx="1737360" cy="210312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02336" y="4928616"/>
            <a:ext cx="1682496" cy="2103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BD5E1"/>
                </a:solidFill>
              </a:rPr>
              <a:t>Clock (Comb.)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2103120" y="4928616"/>
            <a:ext cx="1554480" cy="210312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139696" y="4928616"/>
            <a:ext cx="1499616" cy="2103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3.322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3657600" y="4928616"/>
            <a:ext cx="1691640" cy="210312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694176" y="4928616"/>
            <a:ext cx="1636776" cy="2103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4.753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5349240" y="4928616"/>
            <a:ext cx="1371600" cy="210312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385816" y="4928616"/>
            <a:ext cx="1316736" cy="2103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0.001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6720840" y="4928616"/>
            <a:ext cx="1371600" cy="210312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757416" y="4928616"/>
            <a:ext cx="1316736" cy="2103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8.075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8092440" y="4928616"/>
            <a:ext cx="640080" cy="210312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129016" y="4928616"/>
            <a:ext cx="585216" cy="2103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11.57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Implementation — Exact vs Optimised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Xilinx ZCU102 Zynq UltraScale+ | Fixed-point 16-bit | Frequency at 0-slack (maximum achievable)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2029968" cy="2926080"/>
          </a:xfrm>
          <a:prstGeom prst="rect">
            <a:avLst/>
          </a:prstGeom>
          <a:solidFill>
            <a:srgbClr val="162232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87552"/>
            <a:ext cx="2029968" cy="347472"/>
          </a:xfrm>
          <a:prstGeom prst="rect">
            <a:avLst/>
          </a:prstGeom>
          <a:solidFill>
            <a:srgbClr val="00D4FF">
              <a:alpha val="7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987552"/>
            <a:ext cx="1920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LUTs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41732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Exact Model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160934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BD5E1"/>
                </a:solidFill>
              </a:rPr>
              <a:t>81,178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2084832"/>
            <a:ext cx="1572768" cy="0"/>
          </a:xfrm>
          <a:prstGeom prst="line">
            <a:avLst/>
          </a:prstGeom>
          <a:noFill/>
          <a:ln w="10160">
            <a:solidFill>
              <a:srgbClr val="2D3E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14884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Optimised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912" y="234086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</a:rPr>
              <a:t>83,783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38912" y="2834640"/>
            <a:ext cx="1874520" cy="292608"/>
          </a:xfrm>
          <a:prstGeom prst="roundRect">
            <a:avLst>
              <a:gd name="adj" fmla="val 15625"/>
            </a:avLst>
          </a:prstGeom>
          <a:solidFill>
            <a:srgbClr val="1A1A2A"/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8346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▲ +3.2%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0624" y="3200400"/>
            <a:ext cx="1938528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</a:rPr>
              <a:t>Slight increase from packed control buses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2542032" y="987552"/>
            <a:ext cx="2029968" cy="2926080"/>
          </a:xfrm>
          <a:prstGeom prst="rect">
            <a:avLst/>
          </a:prstGeom>
          <a:solidFill>
            <a:srgbClr val="162232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42032" y="987552"/>
            <a:ext cx="2029968" cy="347472"/>
          </a:xfrm>
          <a:prstGeom prst="rect">
            <a:avLst/>
          </a:prstGeom>
          <a:solidFill>
            <a:srgbClr val="00D4FF">
              <a:alpha val="7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15184" y="987552"/>
            <a:ext cx="1920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Flip-Flops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15184" y="141732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Exact Model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15184" y="160934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BD5E1"/>
                </a:solidFill>
              </a:rPr>
              <a:t>36,601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770632" y="2084832"/>
            <a:ext cx="1572768" cy="0"/>
          </a:xfrm>
          <a:prstGeom prst="line">
            <a:avLst/>
          </a:prstGeom>
          <a:noFill/>
          <a:ln w="10160">
            <a:solidFill>
              <a:srgbClr val="2D3E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15184" y="214884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Optimised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15184" y="234086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</a:rPr>
              <a:t>38,903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2615184" y="2834640"/>
            <a:ext cx="1874520" cy="292608"/>
          </a:xfrm>
          <a:prstGeom prst="roundRect">
            <a:avLst>
              <a:gd name="adj" fmla="val 15625"/>
            </a:avLst>
          </a:prstGeom>
          <a:solidFill>
            <a:srgbClr val="1A1A2A"/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15184" y="28346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▲ +6.3%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96896" y="3200400"/>
            <a:ext cx="1938528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</a:rPr>
              <a:t>Additional pipeline registers for optimised flow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4718304" y="987552"/>
            <a:ext cx="2029968" cy="2926080"/>
          </a:xfrm>
          <a:prstGeom prst="rect">
            <a:avLst/>
          </a:prstGeom>
          <a:solidFill>
            <a:srgbClr val="162232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18304" y="987552"/>
            <a:ext cx="2029968" cy="347472"/>
          </a:xfrm>
          <a:prstGeom prst="rect">
            <a:avLst/>
          </a:prstGeom>
          <a:solidFill>
            <a:srgbClr val="00D4FF">
              <a:alpha val="7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91456" y="987552"/>
            <a:ext cx="1920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Power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91456" y="141732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Exact Model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91456" y="160934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BD5E1"/>
                </a:solidFill>
              </a:rPr>
              <a:t>1.046 W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946904" y="2084832"/>
            <a:ext cx="1572768" cy="0"/>
          </a:xfrm>
          <a:prstGeom prst="line">
            <a:avLst/>
          </a:prstGeom>
          <a:noFill/>
          <a:ln w="10160">
            <a:solidFill>
              <a:srgbClr val="2D3E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91456" y="214884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Optimised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91456" y="234086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</a:rPr>
              <a:t>1.060 W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791456" y="2834640"/>
            <a:ext cx="1874520" cy="292608"/>
          </a:xfrm>
          <a:prstGeom prst="roundRect">
            <a:avLst>
              <a:gd name="adj" fmla="val 15625"/>
            </a:avLst>
          </a:prstGeom>
          <a:solidFill>
            <a:srgbClr val="1A1A2A"/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91456" y="28346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▲ +1.3%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73168" y="3200400"/>
            <a:ext cx="1938528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</a:rPr>
              <a:t>Negligible — within measurement noise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6894576" y="987552"/>
            <a:ext cx="2029968" cy="2926080"/>
          </a:xfrm>
          <a:prstGeom prst="rect">
            <a:avLst/>
          </a:prstGeom>
          <a:solidFill>
            <a:srgbClr val="162232"/>
          </a:solidFill>
          <a:ln w="317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94576" y="987552"/>
            <a:ext cx="2029968" cy="347472"/>
          </a:xfrm>
          <a:prstGeom prst="rect">
            <a:avLst/>
          </a:prstGeom>
          <a:solidFill>
            <a:srgbClr val="22C55E">
              <a:alpha val="9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67728" y="987552"/>
            <a:ext cx="1920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Frequency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967728" y="141732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Exact Model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67728" y="160934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BD5E1"/>
                </a:solidFill>
              </a:rPr>
              <a:t>59 MHz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7123176" y="2084832"/>
            <a:ext cx="1572768" cy="0"/>
          </a:xfrm>
          <a:prstGeom prst="line">
            <a:avLst/>
          </a:prstGeom>
          <a:noFill/>
          <a:ln w="10160">
            <a:solidFill>
              <a:srgbClr val="2D3E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67728" y="214884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Optimised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967728" y="234086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</a:rPr>
              <a:t>81 MHz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6967728" y="2834640"/>
            <a:ext cx="1874520" cy="292608"/>
          </a:xfrm>
          <a:prstGeom prst="roundRect">
            <a:avLst>
              <a:gd name="adj" fmla="val 15625"/>
            </a:avLst>
          </a:prstGeom>
          <a:solidFill>
            <a:srgbClr val="0A2A0A"/>
          </a:solidFill>
          <a:ln w="1270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67728" y="28346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▲ +37.3%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949440" y="3200400"/>
            <a:ext cx="1938528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</a:rPr>
              <a:t>Max freq at 0 slack — core throughput gain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365760" y="3977640"/>
            <a:ext cx="8458200" cy="594360"/>
          </a:xfrm>
          <a:prstGeom prst="rect">
            <a:avLst/>
          </a:prstGeom>
          <a:solidFill>
            <a:srgbClr val="0A1A2E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48640" y="40050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Throughput Gain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48640" y="4233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 xml:space="preserve">Optimised:  </a:t>
            </a:r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81 MHz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 xml:space="preserve">  vs  Exact: </a:t>
            </a:r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59 MHz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 xml:space="preserve">  →  </a:t>
            </a:r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37.3% higher clock frequency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 xml:space="preserve">  at marginal area cost (+3.2% LUTs, +6.3% FFs)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65760" y="4626864"/>
            <a:ext cx="8458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Power delta (+1.3%) is within measurement variation — effectively identical power consumption for 37% throughput gain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Analysis — Cadence Voltus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Static power | 45nm GPDK | VDD = 0.9 V | 775,355 instances | Sequential activity = 0.2 | Primary input activity = 0.2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029968" cy="804672"/>
          </a:xfrm>
          <a:prstGeom prst="rect">
            <a:avLst/>
          </a:prstGeom>
          <a:solidFill>
            <a:srgbClr val="162232"/>
          </a:solidFill>
          <a:ln w="317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3268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</a:rPr>
              <a:t>69.77 mW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Total Power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42032" y="914400"/>
            <a:ext cx="2029968" cy="804672"/>
          </a:xfrm>
          <a:prstGeom prst="rect">
            <a:avLst/>
          </a:prstGeom>
          <a:solidFill>
            <a:srgbClr val="162232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42032" y="93268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46.18 mW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542032" y="137160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Internal (66.2%)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18304" y="914400"/>
            <a:ext cx="2029968" cy="804672"/>
          </a:xfrm>
          <a:prstGeom prst="rect">
            <a:avLst/>
          </a:prstGeom>
          <a:solidFill>
            <a:srgbClr val="162232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18304" y="93268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35"/>
                </a:solidFill>
              </a:rPr>
              <a:t>23.54 mW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18304" y="137160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Switching (33.7%)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94576" y="914400"/>
            <a:ext cx="2029968" cy="804672"/>
          </a:xfrm>
          <a:prstGeom prst="rect">
            <a:avLst/>
          </a:prstGeom>
          <a:solidFill>
            <a:srgbClr val="162232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94576" y="93268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55F7"/>
                </a:solidFill>
              </a:rPr>
              <a:t>0.049 mW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94576" y="137160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Leakage (0.07%)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1874520"/>
            <a:ext cx="5212080" cy="292608"/>
          </a:xfrm>
          <a:prstGeom prst="rect">
            <a:avLst/>
          </a:prstGeom>
          <a:solidFill>
            <a:srgbClr val="1B2A3D"/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74520"/>
            <a:ext cx="51206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</a:rPr>
              <a:t>Power by Functional Group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2176272"/>
            <a:ext cx="1417320" cy="384048"/>
          </a:xfrm>
          <a:prstGeom prst="rect">
            <a:avLst/>
          </a:prstGeom>
          <a:solidFill>
            <a:srgbClr val="1B3050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2176272"/>
            <a:ext cx="1371600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Group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783080" y="2176272"/>
            <a:ext cx="1005840" cy="384048"/>
          </a:xfrm>
          <a:prstGeom prst="rect">
            <a:avLst/>
          </a:prstGeom>
          <a:solidFill>
            <a:srgbClr val="1B3050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2176272"/>
            <a:ext cx="960120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Internal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(mW)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88920" y="2176272"/>
            <a:ext cx="1188720" cy="384048"/>
          </a:xfrm>
          <a:prstGeom prst="rect">
            <a:avLst/>
          </a:prstGeom>
          <a:solidFill>
            <a:srgbClr val="1B3050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16352" y="2176272"/>
            <a:ext cx="1143000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Switching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(mW)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977640" y="2176272"/>
            <a:ext cx="914400" cy="384048"/>
          </a:xfrm>
          <a:prstGeom prst="rect">
            <a:avLst/>
          </a:prstGeom>
          <a:solidFill>
            <a:srgbClr val="1B3050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05072" y="2176272"/>
            <a:ext cx="868680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Leakage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(mW)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892040" y="2176272"/>
            <a:ext cx="1051560" cy="384048"/>
          </a:xfrm>
          <a:prstGeom prst="rect">
            <a:avLst/>
          </a:prstGeom>
          <a:solidFill>
            <a:srgbClr val="1B3050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176272"/>
            <a:ext cx="1005840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Total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(mW)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943600" y="2176272"/>
            <a:ext cx="548640" cy="384048"/>
          </a:xfrm>
          <a:prstGeom prst="rect">
            <a:avLst/>
          </a:prstGeom>
          <a:solidFill>
            <a:srgbClr val="1B3050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71032" y="2176272"/>
            <a:ext cx="502920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%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65760" y="2578608"/>
            <a:ext cx="1417320" cy="3200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" y="2578608"/>
            <a:ext cx="1362456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855F7"/>
                </a:solidFill>
              </a:rPr>
              <a:t>Sequential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783080" y="2578608"/>
            <a:ext cx="1005840" cy="3200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19656" y="2578608"/>
            <a:ext cx="950976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22.460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88920" y="2578608"/>
            <a:ext cx="1188720" cy="3200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25496" y="2578608"/>
            <a:ext cx="1133856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1.552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977640" y="2578608"/>
            <a:ext cx="914400" cy="3200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14216" y="2578608"/>
            <a:ext cx="859536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0.013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92040" y="2578608"/>
            <a:ext cx="1051560" cy="3200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28616" y="2578608"/>
            <a:ext cx="996696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24.020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943600" y="2578608"/>
            <a:ext cx="548640" cy="3200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80176" y="2578608"/>
            <a:ext cx="493776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34.43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65760" y="2898648"/>
            <a:ext cx="1417320" cy="3200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2336" y="2898648"/>
            <a:ext cx="1362456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6B35"/>
                </a:solidFill>
              </a:rPr>
              <a:t>Combinational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783080" y="2898648"/>
            <a:ext cx="1005840" cy="3200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19656" y="2898648"/>
            <a:ext cx="950976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20.400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788920" y="2898648"/>
            <a:ext cx="1188720" cy="3200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25496" y="2898648"/>
            <a:ext cx="1133856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17.240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977640" y="2898648"/>
            <a:ext cx="914400" cy="3200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14216" y="2898648"/>
            <a:ext cx="859536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0.036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92040" y="2898648"/>
            <a:ext cx="1051560" cy="3200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28616" y="2898648"/>
            <a:ext cx="996696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37.670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943600" y="2898648"/>
            <a:ext cx="548640" cy="3200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80176" y="2898648"/>
            <a:ext cx="493776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54.00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65760" y="3218688"/>
            <a:ext cx="1417320" cy="3200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2336" y="3218688"/>
            <a:ext cx="1362456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D4FF"/>
                </a:solidFill>
              </a:rPr>
              <a:t>Clock (Comb.)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783080" y="3218688"/>
            <a:ext cx="1005840" cy="3200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819656" y="3218688"/>
            <a:ext cx="950976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3.322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788920" y="3218688"/>
            <a:ext cx="1188720" cy="3200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825496" y="3218688"/>
            <a:ext cx="1133856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4.753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977640" y="3218688"/>
            <a:ext cx="914400" cy="3200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014216" y="3218688"/>
            <a:ext cx="859536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0.001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892040" y="3218688"/>
            <a:ext cx="1051560" cy="3200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28616" y="3218688"/>
            <a:ext cx="996696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8.075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943600" y="3218688"/>
            <a:ext cx="548640" cy="3200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80176" y="3218688"/>
            <a:ext cx="493776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11.57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65760" y="3538728"/>
            <a:ext cx="1417320" cy="3200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02336" y="3538728"/>
            <a:ext cx="1362456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Macro / IO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1783080" y="3538728"/>
            <a:ext cx="1005840" cy="3200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819656" y="3538728"/>
            <a:ext cx="950976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0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788920" y="3538728"/>
            <a:ext cx="1188720" cy="3200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825496" y="3538728"/>
            <a:ext cx="1133856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0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977640" y="3538728"/>
            <a:ext cx="914400" cy="3200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014216" y="3538728"/>
            <a:ext cx="859536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0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892040" y="3538728"/>
            <a:ext cx="1051560" cy="3200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928616" y="3538728"/>
            <a:ext cx="996696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0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5943600" y="3538728"/>
            <a:ext cx="548640" cy="320040"/>
          </a:xfrm>
          <a:prstGeom prst="rect">
            <a:avLst/>
          </a:prstGeom>
          <a:solidFill>
            <a:srgbClr val="1B2A3D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980176" y="3538728"/>
            <a:ext cx="493776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0.00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5760720" y="1874520"/>
            <a:ext cx="3063240" cy="292608"/>
          </a:xfrm>
          <a:prstGeom prst="rect">
            <a:avLst/>
          </a:prstGeom>
          <a:solidFill>
            <a:srgbClr val="1B2A3D"/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852160" y="1874520"/>
            <a:ext cx="29718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</a:rPr>
              <a:t>Power Distribution</a:t>
            </a:r>
            <a:endParaRPr lang="en-US" sz="1150" dirty="0"/>
          </a:p>
        </p:txBody>
      </p:sp>
      <p:sp>
        <p:nvSpPr>
          <p:cNvPr id="81" name="Shape 79"/>
          <p:cNvSpPr/>
          <p:nvPr/>
        </p:nvSpPr>
        <p:spPr>
          <a:xfrm>
            <a:off x="5760720" y="2267712"/>
            <a:ext cx="3063240" cy="566928"/>
          </a:xfrm>
          <a:prstGeom prst="rect">
            <a:avLst/>
          </a:prstGeom>
          <a:solidFill>
            <a:srgbClr val="162232"/>
          </a:solidFill>
          <a:ln w="12700">
            <a:solidFill>
              <a:srgbClr val="FF6B35">
                <a:alpha val="5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760720" y="2286000"/>
            <a:ext cx="2286000" cy="530352"/>
          </a:xfrm>
          <a:prstGeom prst="rect">
            <a:avLst/>
          </a:prstGeom>
          <a:solidFill>
            <a:srgbClr val="FF6B35">
              <a:alpha val="70000"/>
            </a:srgbClr>
          </a:solidFill>
          <a:ln w="12700">
            <a:solidFill>
              <a:srgbClr val="FF6B35">
                <a:alpha val="9000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806440" y="2340864"/>
            <a:ext cx="22860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Combinational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8229600" y="234086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35"/>
                </a:solidFill>
              </a:rPr>
              <a:t>54%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5760720" y="2980944"/>
            <a:ext cx="3063240" cy="566928"/>
          </a:xfrm>
          <a:prstGeom prst="rect">
            <a:avLst/>
          </a:prstGeom>
          <a:solidFill>
            <a:srgbClr val="162232"/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760720" y="2999232"/>
            <a:ext cx="1457537" cy="530352"/>
          </a:xfrm>
          <a:prstGeom prst="rect">
            <a:avLst/>
          </a:prstGeom>
          <a:solidFill>
            <a:srgbClr val="A855F7">
              <a:alpha val="70000"/>
            </a:srgbClr>
          </a:solidFill>
          <a:ln w="12700">
            <a:solidFill>
              <a:srgbClr val="A855F7">
                <a:alpha val="9000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806440" y="3054096"/>
            <a:ext cx="22860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Sequential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8229600" y="305409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855F7"/>
                </a:solidFill>
              </a:rPr>
              <a:t>34.43%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5760720" y="3694176"/>
            <a:ext cx="3063240" cy="566928"/>
          </a:xfrm>
          <a:prstGeom prst="rect">
            <a:avLst/>
          </a:prstGeom>
          <a:solidFill>
            <a:srgbClr val="162232"/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760720" y="3712464"/>
            <a:ext cx="489797" cy="530352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>
                <a:alpha val="9000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806440" y="3767328"/>
            <a:ext cx="22860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Clock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8229600" y="37673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11.57%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365760" y="3877056"/>
            <a:ext cx="8458200" cy="274320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57200" y="3877056"/>
            <a:ext cx="83210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Clock Network Power (clk) — Period: 10 ns | Toggle: 200 MHz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365760" y="4169664"/>
            <a:ext cx="1682496" cy="320040"/>
          </a:xfrm>
          <a:prstGeom prst="rect">
            <a:avLst/>
          </a:prstGeom>
          <a:solidFill>
            <a:srgbClr val="1B3050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02336" y="4169664"/>
            <a:ext cx="1627632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D4FF"/>
                </a:solidFill>
              </a:rPr>
              <a:t>Internal (mW)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2048256" y="4169664"/>
            <a:ext cx="1682496" cy="320040"/>
          </a:xfrm>
          <a:prstGeom prst="rect">
            <a:avLst/>
          </a:prstGeom>
          <a:solidFill>
            <a:srgbClr val="1B3050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084832" y="4169664"/>
            <a:ext cx="1627632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D4FF"/>
                </a:solidFill>
              </a:rPr>
              <a:t>Switching (mW)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3730752" y="4169664"/>
            <a:ext cx="1682496" cy="320040"/>
          </a:xfrm>
          <a:prstGeom prst="rect">
            <a:avLst/>
          </a:prstGeom>
          <a:solidFill>
            <a:srgbClr val="1B3050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767328" y="4169664"/>
            <a:ext cx="1627632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D4FF"/>
                </a:solidFill>
              </a:rPr>
              <a:t>Leakage (mW)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5413248" y="4169664"/>
            <a:ext cx="1682496" cy="320040"/>
          </a:xfrm>
          <a:prstGeom prst="rect">
            <a:avLst/>
          </a:prstGeom>
          <a:solidFill>
            <a:srgbClr val="1B3050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449824" y="4169664"/>
            <a:ext cx="1627632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D4FF"/>
                </a:solidFill>
              </a:rPr>
              <a:t>Total (mW)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7095744" y="4169664"/>
            <a:ext cx="1728216" cy="320040"/>
          </a:xfrm>
          <a:prstGeom prst="rect">
            <a:avLst/>
          </a:prstGeom>
          <a:solidFill>
            <a:srgbClr val="1B3050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132320" y="4169664"/>
            <a:ext cx="1673352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D4FF"/>
                </a:solidFill>
              </a:rPr>
              <a:t>% of Chip Power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365760" y="4489704"/>
            <a:ext cx="1682496" cy="3200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02336" y="4489704"/>
            <a:ext cx="1627632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3.322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2048256" y="4489704"/>
            <a:ext cx="1682496" cy="3200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084832" y="4489704"/>
            <a:ext cx="1627632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4.753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3730752" y="4489704"/>
            <a:ext cx="1682496" cy="3200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767328" y="4489704"/>
            <a:ext cx="1627632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0.001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5413248" y="4489704"/>
            <a:ext cx="1682496" cy="3200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449824" y="4489704"/>
            <a:ext cx="1627632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8.075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7095744" y="4489704"/>
            <a:ext cx="1728216" cy="320040"/>
          </a:xfrm>
          <a:prstGeom prst="rect">
            <a:avLst/>
          </a:prstGeom>
          <a:solidFill>
            <a:srgbClr val="162232"/>
          </a:solidFill>
          <a:ln w="3810">
            <a:solidFill>
              <a:srgbClr val="2D3E5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132320" y="4489704"/>
            <a:ext cx="1673352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11.57%</a:t>
            </a:r>
            <a:endParaRPr lang="en-US" sz="1100" dirty="0"/>
          </a:p>
        </p:txBody>
      </p:sp>
      <p:sp>
        <p:nvSpPr>
          <p:cNvPr id="115" name="Text 113"/>
          <p:cNvSpPr/>
          <p:nvPr/>
        </p:nvSpPr>
        <p:spPr>
          <a:xfrm>
            <a:off x="365760" y="4882896"/>
            <a:ext cx="8458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94A3B8"/>
                </a:solidFill>
              </a:rPr>
              <a:t>Highest average power instance: kpu_inst/PE_ROW[5].PE_COL[13].pe_inst (CLKBUFX4) = 1.147 µW  |  Total cap: 2.044 nF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Throughput Optimisations in CNN Inference Engine SV Implementation</dc:title>
  <dc:subject>PptxGenJS Presentation</dc:subject>
  <dc:creator>PptxGenJS</dc:creator>
  <cp:lastModifiedBy>PptxGenJS</cp:lastModifiedBy>
  <cp:revision>1</cp:revision>
  <dcterms:created xsi:type="dcterms:W3CDTF">2026-05-09T01:44:23Z</dcterms:created>
  <dcterms:modified xsi:type="dcterms:W3CDTF">2026-05-09T01:44:23Z</dcterms:modified>
</cp:coreProperties>
</file>